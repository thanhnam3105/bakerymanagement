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EE61DD-E999-48BC-B973-941A969BD0D1}">
  <a:tblStyle styleId="{2BEE61DD-E999-48BC-B973-941A969BD0D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5"/>
          </a:solidFill>
        </a:fill>
      </a:tcStyle>
    </a:lastCol>
    <a:firstCol>
      <a:tcTxStyle b="on" i="off">
        <a:font>
          <a:latin typeface="Calibri"/>
          <a:ea typeface="Calibri"/>
          <a:cs typeface="Calibri"/>
        </a:font>
        <a:schemeClr val="lt1"/>
      </a:tcTxStyle>
      <a:tcStyle>
        <a:fill>
          <a:solidFill>
            <a:schemeClr val="accent5"/>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5"/>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5"/>
          </a:solidFill>
        </a:fill>
      </a:tcStyle>
    </a:firstRow>
    <a:neCell>
      <a:tcTxStyle b="off" i="off"/>
    </a:neCell>
    <a:nwCell>
      <a:tcTxStyle b="off" i="off"/>
    </a:nwCell>
  </a:tblStyle>
  <a:tblStyle styleId="{8FEAE3B1-C79F-4BF4-9588-116DF343F53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3508"/>
          </a:xfrm>
          <a:prstGeom prst="rect">
            <a:avLst/>
          </a:prstGeom>
          <a:noFill/>
          <a:ln>
            <a:noFill/>
          </a:ln>
        </p:spPr>
        <p:txBody>
          <a:bodyPr anchorCtr="0" anchor="t" bIns="49525" lIns="99075" spcFirstLastPara="1" rIns="99075"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023992" y="0"/>
            <a:ext cx="3078427" cy="513508"/>
          </a:xfrm>
          <a:prstGeom prst="rect">
            <a:avLst/>
          </a:prstGeom>
          <a:noFill/>
          <a:ln>
            <a:noFill/>
          </a:ln>
        </p:spPr>
        <p:txBody>
          <a:bodyPr anchorCtr="0" anchor="t" bIns="49525" lIns="99075" spcFirstLastPara="1" rIns="99075" wrap="square" tIns="495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82600" y="1279525"/>
            <a:ext cx="6138863"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925407"/>
            <a:ext cx="5683250" cy="4029879"/>
          </a:xfrm>
          <a:prstGeom prst="rect">
            <a:avLst/>
          </a:prstGeom>
          <a:noFill/>
          <a:ln>
            <a:noFill/>
          </a:ln>
        </p:spPr>
        <p:txBody>
          <a:bodyPr anchorCtr="0" anchor="t" bIns="49525" lIns="99075" spcFirstLastPara="1" rIns="99075" wrap="square" tIns="495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721107"/>
            <a:ext cx="3078427" cy="513507"/>
          </a:xfrm>
          <a:prstGeom prst="rect">
            <a:avLst/>
          </a:prstGeom>
          <a:noFill/>
          <a:ln>
            <a:noFill/>
          </a:ln>
        </p:spPr>
        <p:txBody>
          <a:bodyPr anchorCtr="0" anchor="b" bIns="49525" lIns="99075" spcFirstLastPara="1" rIns="99075"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023992" y="9721107"/>
            <a:ext cx="3078427" cy="513507"/>
          </a:xfrm>
          <a:prstGeom prst="rect">
            <a:avLst/>
          </a:prstGeom>
          <a:noFill/>
          <a:ln>
            <a:noFill/>
          </a:ln>
        </p:spPr>
        <p:txBody>
          <a:bodyPr anchorCtr="0" anchor="b" bIns="49525" lIns="99075" spcFirstLastPara="1" rIns="99075" wrap="square" tIns="495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ja-JP"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3:notes"/>
          <p:cNvSpPr txBox="1"/>
          <p:nvPr>
            <p:ph idx="1" type="body"/>
          </p:nvPr>
        </p:nvSpPr>
        <p:spPr>
          <a:xfrm>
            <a:off x="710407" y="4925407"/>
            <a:ext cx="5683250" cy="4029879"/>
          </a:xfrm>
          <a:prstGeom prst="rect">
            <a:avLst/>
          </a:prstGeom>
          <a:noFill/>
          <a:ln>
            <a:noFill/>
          </a:ln>
        </p:spPr>
        <p:txBody>
          <a:bodyPr anchorCtr="0" anchor="t" bIns="49525" lIns="99075" spcFirstLastPara="1" rIns="99075" wrap="square" tIns="49525">
            <a:noAutofit/>
          </a:bodyPr>
          <a:lstStyle/>
          <a:p>
            <a:pPr indent="0" lvl="0" marL="0" rtl="0" algn="l">
              <a:lnSpc>
                <a:spcPct val="100000"/>
              </a:lnSpc>
              <a:spcBef>
                <a:spcPts val="0"/>
              </a:spcBef>
              <a:spcAft>
                <a:spcPts val="0"/>
              </a:spcAft>
              <a:buSzPts val="1400"/>
              <a:buNone/>
            </a:pPr>
            <a:r>
              <a:t/>
            </a:r>
            <a:endParaRPr/>
          </a:p>
        </p:txBody>
      </p:sp>
      <p:sp>
        <p:nvSpPr>
          <p:cNvPr id="24" name="Google Shape;24;p13:notes"/>
          <p:cNvSpPr/>
          <p:nvPr>
            <p:ph idx="2" type="sldImg"/>
          </p:nvPr>
        </p:nvSpPr>
        <p:spPr>
          <a:xfrm>
            <a:off x="482600" y="1279525"/>
            <a:ext cx="6138863"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g384bd3a7ca4_0_7: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0" name="Google Shape;30;g384bd3a7ca4_0_7: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1" name="Google Shape;31;g384bd3a7ca4_0_7: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84bd3a7ca4_0_15: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41" name="Google Shape;41;g384bd3a7ca4_0_15: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42" name="Google Shape;42;g384bd3a7ca4_0_15: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8cd0b5cb72_0_100: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51" name="Google Shape;51;g38cd0b5cb72_0_100: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52" name="Google Shape;52;g38cd0b5cb72_0_100: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8cd0b5cb72_0_50: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60" name="Google Shape;60;g38cd0b5cb72_0_50: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61" name="Google Shape;61;g38cd0b5cb72_0_50: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cd0b5cb72_0_43: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cd0b5cb72_0_43: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91" name="Google Shape;91;g38cd0b5cb72_0_43: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cd0b5cb72_0_67: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cd0b5cb72_0_67: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01" name="Google Shape;101;g38cd0b5cb72_0_67: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cd0b5cb72_0_7: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cd0b5cb72_0_7: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23" name="Google Shape;123;g38cd0b5cb72_0_7: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cd0b5cb72_0_15: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cd0b5cb72_0_15: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48" name="Google Shape;148;g38cd0b5cb72_0_15: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8cd0b5cb72_0_86: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8cd0b5cb72_0_86: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74" name="Google Shape;174;g38cd0b5cb72_0_86: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ja-JP"/>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p:cSld name="タイトル スライド">
    <p:spTree>
      <p:nvGrpSpPr>
        <p:cNvPr id="13" name="Shape 13"/>
        <p:cNvGrpSpPr/>
        <p:nvPr/>
      </p:nvGrpSpPr>
      <p:grpSpPr>
        <a:xfrm>
          <a:off x="0" y="0"/>
          <a:ext cx="0" cy="0"/>
          <a:chOff x="0" y="0"/>
          <a:chExt cx="0" cy="0"/>
        </a:xfrm>
      </p:grpSpPr>
      <p:sp>
        <p:nvSpPr>
          <p:cNvPr id="14" name="Google Shape;14;p2"/>
          <p:cNvSpPr txBox="1"/>
          <p:nvPr>
            <p:ph type="ctrTitle"/>
          </p:nvPr>
        </p:nvSpPr>
        <p:spPr>
          <a:xfrm>
            <a:off x="914400" y="1447416"/>
            <a:ext cx="10363200" cy="1048068"/>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3600"/>
              <a:buFont typeface="Arial"/>
              <a:buNone/>
              <a:defRPr b="1" i="0" sz="6600" u="sng" cap="none" strike="noStrike">
                <a:solidFill>
                  <a:schemeClr val="dk1"/>
                </a:solidFill>
                <a:latin typeface="Meiryo"/>
                <a:ea typeface="Meiryo"/>
                <a:cs typeface="Meiryo"/>
                <a:sym typeface="Meiry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2"/>
          <p:cNvSpPr txBox="1"/>
          <p:nvPr>
            <p:ph idx="1" type="subTitle"/>
          </p:nvPr>
        </p:nvSpPr>
        <p:spPr>
          <a:xfrm>
            <a:off x="1524000" y="3173670"/>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Meiryo"/>
                <a:ea typeface="Meiryo"/>
                <a:cs typeface="Meiryo"/>
                <a:sym typeface="Meiryo"/>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graphicFrame>
        <p:nvGraphicFramePr>
          <p:cNvPr id="16" name="Google Shape;16;p2"/>
          <p:cNvGraphicFramePr/>
          <p:nvPr/>
        </p:nvGraphicFramePr>
        <p:xfrm>
          <a:off x="371603" y="5615974"/>
          <a:ext cx="3000000" cy="3000000"/>
        </p:xfrm>
        <a:graphic>
          <a:graphicData uri="http://schemas.openxmlformats.org/drawingml/2006/table">
            <a:tbl>
              <a:tblPr bandRow="1" firstRow="1">
                <a:noFill/>
                <a:tableStyleId>{2BEE61DD-E999-48BC-B973-941A969BD0D1}</a:tableStyleId>
              </a:tblPr>
              <a:tblGrid>
                <a:gridCol w="3706625"/>
              </a:tblGrid>
              <a:tr h="370675">
                <a:tc>
                  <a:txBody>
                    <a:bodyPr/>
                    <a:lstStyle/>
                    <a:p>
                      <a:pPr indent="0" lvl="0" marL="0" marR="0" rtl="0" algn="ctr">
                        <a:lnSpc>
                          <a:spcPct val="100000"/>
                        </a:lnSpc>
                        <a:spcBef>
                          <a:spcPts val="0"/>
                        </a:spcBef>
                        <a:spcAft>
                          <a:spcPts val="0"/>
                        </a:spcAft>
                        <a:buClr>
                          <a:srgbClr val="000000"/>
                        </a:buClr>
                        <a:buSzPts val="1800"/>
                        <a:buFont typeface="Arial"/>
                        <a:buNone/>
                      </a:pPr>
                      <a:r>
                        <a:rPr b="1" lang="ja-JP" sz="1800" u="none" cap="none" strike="noStrike">
                          <a:solidFill>
                            <a:schemeClr val="dk1"/>
                          </a:solidFill>
                          <a:latin typeface="Meiryo"/>
                          <a:ea typeface="Meiryo"/>
                          <a:cs typeface="Meiryo"/>
                          <a:sym typeface="Meiryo"/>
                        </a:rPr>
                        <a:t>レベル２</a:t>
                      </a:r>
                      <a:endParaRPr sz="1400" u="none" cap="none" strike="noStrike"/>
                    </a:p>
                  </a:txBody>
                  <a:tcPr marT="45700" marB="45700" marR="121950" marL="121950" anchor="ctr">
                    <a:solidFill>
                      <a:srgbClr val="FFFF00"/>
                    </a:solidFill>
                  </a:tcPr>
                </a:tc>
              </a:tr>
              <a:tr h="370675">
                <a:tc>
                  <a:txBody>
                    <a:bodyPr/>
                    <a:lstStyle/>
                    <a:p>
                      <a:pPr indent="0" lvl="0" marL="0" marR="0" rtl="0" algn="l">
                        <a:lnSpc>
                          <a:spcPct val="100000"/>
                        </a:lnSpc>
                        <a:spcBef>
                          <a:spcPts val="0"/>
                        </a:spcBef>
                        <a:spcAft>
                          <a:spcPts val="0"/>
                        </a:spcAft>
                        <a:buClr>
                          <a:srgbClr val="000000"/>
                        </a:buClr>
                        <a:buSzPts val="1800"/>
                        <a:buFont typeface="Arial"/>
                        <a:buNone/>
                      </a:pPr>
                      <a:r>
                        <a:rPr b="1" lang="ja-JP" sz="1800" u="none" cap="none" strike="noStrike">
                          <a:solidFill>
                            <a:schemeClr val="dk1"/>
                          </a:solidFill>
                          <a:latin typeface="Meiryo"/>
                          <a:ea typeface="Meiryo"/>
                          <a:cs typeface="Meiryo"/>
                          <a:sym typeface="Meiryo"/>
                        </a:rPr>
                        <a:t>開示範囲：デジタル推進室/経営推進本部</a:t>
                      </a:r>
                      <a:endParaRPr sz="1800" u="none" cap="none" strike="noStrike">
                        <a:solidFill>
                          <a:schemeClr val="dk1"/>
                        </a:solidFill>
                        <a:latin typeface="Meiryo"/>
                        <a:ea typeface="Meiryo"/>
                        <a:cs typeface="Meiryo"/>
                        <a:sym typeface="Meiryo"/>
                      </a:endParaRPr>
                    </a:p>
                  </a:txBody>
                  <a:tcPr marT="45700" marB="45700" marR="121950" marL="121950">
                    <a:solidFill>
                      <a:schemeClr val="lt1"/>
                    </a:solidFill>
                  </a:tcPr>
                </a:tc>
              </a:tr>
            </a:tbl>
          </a:graphicData>
        </a:graphic>
      </p:graphicFrame>
      <p:sp>
        <p:nvSpPr>
          <p:cNvPr id="17" name="Google Shape;17;p2"/>
          <p:cNvSpPr txBox="1"/>
          <p:nvPr/>
        </p:nvSpPr>
        <p:spPr>
          <a:xfrm>
            <a:off x="10003536" y="6434712"/>
            <a:ext cx="21378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ja-JP" sz="1600" u="none" cap="none" strike="noStrike">
                <a:solidFill>
                  <a:srgbClr val="000000"/>
                </a:solidFill>
                <a:latin typeface="Meiryo"/>
                <a:ea typeface="Meiryo"/>
                <a:cs typeface="Meiryo"/>
                <a:sym typeface="Meiryo"/>
              </a:rPr>
              <a:t>日付:2025/02/19</a:t>
            </a:r>
            <a:endParaRPr b="0" i="0" sz="1600" u="none" cap="none" strike="noStrike">
              <a:solidFill>
                <a:srgbClr val="000000"/>
              </a:solidFill>
              <a:latin typeface="Meiryo"/>
              <a:ea typeface="Meiryo"/>
              <a:cs typeface="Meiryo"/>
              <a:sym typeface="Meiryo"/>
            </a:endParaRPr>
          </a:p>
        </p:txBody>
      </p:sp>
      <p:sp>
        <p:nvSpPr>
          <p:cNvPr id="18" name="Google Shape;18;p2"/>
          <p:cNvSpPr txBox="1"/>
          <p:nvPr>
            <p:ph idx="12" type="sldNum"/>
          </p:nvPr>
        </p:nvSpPr>
        <p:spPr>
          <a:xfrm>
            <a:off x="10940239" y="117484"/>
            <a:ext cx="1251761"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9pPr>
          </a:lstStyle>
          <a:p>
            <a:pPr indent="0" lvl="0" marL="0" rtl="0" algn="ctr">
              <a:spcBef>
                <a:spcPts val="0"/>
              </a:spcBef>
              <a:spcAft>
                <a:spcPts val="0"/>
              </a:spcAft>
              <a:buNone/>
            </a:pPr>
            <a:fld id="{00000000-1234-1234-1234-123412341234}" type="slidenum">
              <a:rPr lang="ja-JP"/>
              <a:t>‹#›</a:t>
            </a:fld>
            <a:r>
              <a:rPr lang="ja-JP"/>
              <a:t>/12</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p:cSld name="1_タイトル スライド">
    <p:spTree>
      <p:nvGrpSpPr>
        <p:cNvPr id="19" name="Shape 19"/>
        <p:cNvGrpSpPr/>
        <p:nvPr/>
      </p:nvGrpSpPr>
      <p:grpSpPr>
        <a:xfrm>
          <a:off x="0" y="0"/>
          <a:ext cx="0" cy="0"/>
          <a:chOff x="0" y="0"/>
          <a:chExt cx="0" cy="0"/>
        </a:xfrm>
      </p:grpSpPr>
      <p:sp>
        <p:nvSpPr>
          <p:cNvPr id="20" name="Google Shape;20;p3"/>
          <p:cNvSpPr txBox="1"/>
          <p:nvPr>
            <p:ph type="ctrTitle"/>
          </p:nvPr>
        </p:nvSpPr>
        <p:spPr>
          <a:xfrm>
            <a:off x="0" y="111971"/>
            <a:ext cx="11707905" cy="430401"/>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600"/>
              <a:buFont typeface="Arial"/>
              <a:buNone/>
              <a:defRPr b="1" i="0" sz="2000" u="none" cap="none" strike="noStrike">
                <a:solidFill>
                  <a:srgbClr val="3F3F3F"/>
                </a:solidFill>
                <a:latin typeface="Meiryo"/>
                <a:ea typeface="Meiryo"/>
                <a:cs typeface="Meiryo"/>
                <a:sym typeface="Meiry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3"/>
          <p:cNvSpPr txBox="1"/>
          <p:nvPr>
            <p:ph idx="12" type="sldNum"/>
          </p:nvPr>
        </p:nvSpPr>
        <p:spPr>
          <a:xfrm>
            <a:off x="10940239" y="117484"/>
            <a:ext cx="1251761"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9pPr>
          </a:lstStyle>
          <a:p>
            <a:pPr indent="0" lvl="0" marL="0" rtl="0" algn="ctr">
              <a:spcBef>
                <a:spcPts val="0"/>
              </a:spcBef>
              <a:spcAft>
                <a:spcPts val="0"/>
              </a:spcAft>
              <a:buNone/>
            </a:pPr>
            <a:fld id="{00000000-1234-1234-1234-123412341234}" type="slidenum">
              <a:rPr lang="ja-JP"/>
              <a:t>‹#›</a:t>
            </a:fld>
            <a:r>
              <a:rPr lang="ja-JP"/>
              <a:t>/14</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6637490"/>
            <a:ext cx="5215259" cy="2205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33"/>
              <a:buFont typeface="Arial"/>
              <a:buNone/>
            </a:pPr>
            <a:r>
              <a:rPr b="0" i="0" lang="ja-JP" sz="833" u="none" cap="none" strike="noStrike">
                <a:solidFill>
                  <a:srgbClr val="595959"/>
                </a:solidFill>
                <a:latin typeface="Meiryo"/>
                <a:ea typeface="Meiryo"/>
                <a:cs typeface="Meiryo"/>
                <a:sym typeface="Meiryo"/>
              </a:rPr>
              <a:t>Copyright © kewpie Corporation All Rights Reserved</a:t>
            </a:r>
            <a:endParaRPr b="0" i="0" sz="833" u="none" cap="none" strike="noStrike">
              <a:solidFill>
                <a:schemeClr val="dk1"/>
              </a:solidFill>
              <a:latin typeface="Meiryo"/>
              <a:ea typeface="Meiryo"/>
              <a:cs typeface="Meiryo"/>
              <a:sym typeface="Meiryo"/>
            </a:endParaRPr>
          </a:p>
        </p:txBody>
      </p:sp>
      <p:cxnSp>
        <p:nvCxnSpPr>
          <p:cNvPr id="11" name="Google Shape;11;p1"/>
          <p:cNvCxnSpPr/>
          <p:nvPr/>
        </p:nvCxnSpPr>
        <p:spPr>
          <a:xfrm>
            <a:off x="0" y="646424"/>
            <a:ext cx="12204000" cy="0"/>
          </a:xfrm>
          <a:prstGeom prst="straightConnector1">
            <a:avLst/>
          </a:prstGeom>
          <a:noFill/>
          <a:ln cap="flat" cmpd="sng" w="63500">
            <a:solidFill>
              <a:srgbClr val="FF0000"/>
            </a:solidFill>
            <a:prstDash val="solid"/>
            <a:miter lim="800000"/>
            <a:headEnd len="sm" w="sm" type="none"/>
            <a:tailEnd len="sm" w="sm" type="none"/>
          </a:ln>
        </p:spPr>
      </p:cxnSp>
      <p:sp>
        <p:nvSpPr>
          <p:cNvPr id="12" name="Google Shape;12;p1"/>
          <p:cNvSpPr txBox="1"/>
          <p:nvPr>
            <p:ph idx="12" type="sldNum"/>
          </p:nvPr>
        </p:nvSpPr>
        <p:spPr>
          <a:xfrm>
            <a:off x="10940239" y="117484"/>
            <a:ext cx="1251761"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1pPr>
            <a:lvl2pPr indent="0" lvl="1"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2pPr>
            <a:lvl3pPr indent="0" lvl="2"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3pPr>
            <a:lvl4pPr indent="0" lvl="3"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4pPr>
            <a:lvl5pPr indent="0" lvl="4"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5pPr>
            <a:lvl6pPr indent="0" lvl="5"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6pPr>
            <a:lvl7pPr indent="0" lvl="6"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7pPr>
            <a:lvl8pPr indent="0" lvl="7"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8pPr>
            <a:lvl9pPr indent="0" lvl="8" marL="0"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9pPr>
          </a:lstStyle>
          <a:p>
            <a:pPr indent="0" lvl="0" marL="0" rtl="0" algn="ctr">
              <a:spcBef>
                <a:spcPts val="0"/>
              </a:spcBef>
              <a:spcAft>
                <a:spcPts val="0"/>
              </a:spcAft>
              <a:buNone/>
            </a:pPr>
            <a:fld id="{00000000-1234-1234-1234-123412341234}" type="slidenum">
              <a:rPr lang="ja-JP"/>
              <a:t>‹#›</a:t>
            </a:fld>
            <a:r>
              <a:rPr lang="ja-JP"/>
              <a:t>/12</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4"/>
          <p:cNvSpPr txBox="1"/>
          <p:nvPr>
            <p:ph type="ctrTitle"/>
          </p:nvPr>
        </p:nvSpPr>
        <p:spPr>
          <a:xfrm>
            <a:off x="1085850" y="2085816"/>
            <a:ext cx="10363200" cy="104806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3600"/>
              <a:buFont typeface="Arial"/>
              <a:buNone/>
            </a:pPr>
            <a:r>
              <a:t/>
            </a:r>
            <a:endParaRPr sz="5400" u="none"/>
          </a:p>
          <a:p>
            <a:pPr indent="0" lvl="0" marL="0" marR="0" rtl="0" algn="ctr">
              <a:lnSpc>
                <a:spcPct val="90000"/>
              </a:lnSpc>
              <a:spcBef>
                <a:spcPts val="0"/>
              </a:spcBef>
              <a:spcAft>
                <a:spcPts val="0"/>
              </a:spcAft>
              <a:buClr>
                <a:schemeClr val="dk1"/>
              </a:buClr>
              <a:buSzPts val="3600"/>
              <a:buFont typeface="Arial"/>
              <a:buNone/>
            </a:pPr>
            <a:r>
              <a:rPr lang="ja-JP" sz="5400" u="none"/>
              <a:t>経営ダッシュボード</a:t>
            </a:r>
            <a:r>
              <a:rPr lang="ja-JP" sz="5400" u="none"/>
              <a:t>開発</a:t>
            </a:r>
            <a:endParaRPr sz="5400" u="none"/>
          </a:p>
        </p:txBody>
      </p:sp>
      <p:sp>
        <p:nvSpPr>
          <p:cNvPr id="27" name="Google Shape;27;p4"/>
          <p:cNvSpPr txBox="1"/>
          <p:nvPr>
            <p:ph idx="12" type="sldNum"/>
          </p:nvPr>
        </p:nvSpPr>
        <p:spPr>
          <a:xfrm>
            <a:off x="10940239" y="117484"/>
            <a:ext cx="125176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600"/>
              <a:buNone/>
            </a:pPr>
            <a:fld id="{00000000-1234-1234-1234-123412341234}" type="slidenum">
              <a:rPr lang="ja-JP"/>
              <a:t>‹#›</a:t>
            </a:fld>
            <a:r>
              <a:rPr lang="ja-JP"/>
              <a:t>/13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5"/>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5"/>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pic>
        <p:nvPicPr>
          <p:cNvPr id="35" name="Google Shape;35;p5"/>
          <p:cNvPicPr preferRelativeResize="0"/>
          <p:nvPr/>
        </p:nvPicPr>
        <p:blipFill>
          <a:blip r:embed="rId3">
            <a:alphaModFix/>
          </a:blip>
          <a:stretch>
            <a:fillRect/>
          </a:stretch>
        </p:blipFill>
        <p:spPr>
          <a:xfrm>
            <a:off x="173375" y="799746"/>
            <a:ext cx="4314825" cy="1000125"/>
          </a:xfrm>
          <a:prstGeom prst="rect">
            <a:avLst/>
          </a:prstGeom>
          <a:noFill/>
          <a:ln>
            <a:noFill/>
          </a:ln>
        </p:spPr>
      </p:pic>
      <p:sp>
        <p:nvSpPr>
          <p:cNvPr id="36" name="Google Shape;36;p5"/>
          <p:cNvSpPr txBox="1"/>
          <p:nvPr/>
        </p:nvSpPr>
        <p:spPr>
          <a:xfrm>
            <a:off x="469438" y="1960925"/>
            <a:ext cx="3722700" cy="14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JP"/>
              <a:t>Gen2でデータLakehouseに入れています</a:t>
            </a:r>
            <a:endParaRPr/>
          </a:p>
          <a:p>
            <a:pPr indent="0" lvl="0" marL="0" rtl="0" algn="l">
              <a:spcBef>
                <a:spcPts val="0"/>
              </a:spcBef>
              <a:spcAft>
                <a:spcPts val="0"/>
              </a:spcAft>
              <a:buNone/>
            </a:pPr>
            <a:r>
              <a:rPr lang="ja-JP"/>
              <a:t>ACT：実績</a:t>
            </a:r>
            <a:endParaRPr/>
          </a:p>
          <a:p>
            <a:pPr indent="0" lvl="0" marL="0" rtl="0" algn="l">
              <a:spcBef>
                <a:spcPts val="0"/>
              </a:spcBef>
              <a:spcAft>
                <a:spcPts val="0"/>
              </a:spcAft>
              <a:buNone/>
            </a:pPr>
            <a:r>
              <a:rPr lang="ja-JP"/>
              <a:t>FCT：見通し（クオーターごとに入ってます）</a:t>
            </a:r>
            <a:endParaRPr/>
          </a:p>
          <a:p>
            <a:pPr indent="0" lvl="0" marL="0" rtl="0" algn="l">
              <a:spcBef>
                <a:spcPts val="0"/>
              </a:spcBef>
              <a:spcAft>
                <a:spcPts val="0"/>
              </a:spcAft>
              <a:buNone/>
            </a:pPr>
            <a:r>
              <a:rPr lang="ja-JP"/>
              <a:t>PLN：計画（何回か入ってます）</a:t>
            </a:r>
            <a:endParaRPr/>
          </a:p>
        </p:txBody>
      </p:sp>
      <p:pic>
        <p:nvPicPr>
          <p:cNvPr id="37" name="Google Shape;37;p5"/>
          <p:cNvPicPr preferRelativeResize="0"/>
          <p:nvPr/>
        </p:nvPicPr>
        <p:blipFill>
          <a:blip r:embed="rId4">
            <a:alphaModFix/>
          </a:blip>
          <a:stretch>
            <a:fillRect/>
          </a:stretch>
        </p:blipFill>
        <p:spPr>
          <a:xfrm>
            <a:off x="7041850" y="708325"/>
            <a:ext cx="3461995" cy="2379525"/>
          </a:xfrm>
          <a:prstGeom prst="rect">
            <a:avLst/>
          </a:prstGeom>
          <a:noFill/>
          <a:ln>
            <a:noFill/>
          </a:ln>
        </p:spPr>
      </p:pic>
      <p:sp>
        <p:nvSpPr>
          <p:cNvPr id="38" name="Google Shape;38;p5"/>
          <p:cNvSpPr txBox="1"/>
          <p:nvPr/>
        </p:nvSpPr>
        <p:spPr>
          <a:xfrm>
            <a:off x="7041838" y="3319250"/>
            <a:ext cx="3722700" cy="14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JP"/>
              <a:t>[ZBWCH0050_TXT]が管理PLの「管理PL集計単位」のようなもの</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6"/>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ja-JP"/>
              <a:t>ER図</a:t>
            </a:r>
            <a:endParaRPr/>
          </a:p>
        </p:txBody>
      </p:sp>
      <p:sp>
        <p:nvSpPr>
          <p:cNvPr id="45" name="Google Shape;45;p6"/>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pic>
        <p:nvPicPr>
          <p:cNvPr id="46" name="Google Shape;46;p6"/>
          <p:cNvPicPr preferRelativeResize="0"/>
          <p:nvPr/>
        </p:nvPicPr>
        <p:blipFill>
          <a:blip r:embed="rId3">
            <a:alphaModFix/>
          </a:blip>
          <a:stretch>
            <a:fillRect/>
          </a:stretch>
        </p:blipFill>
        <p:spPr>
          <a:xfrm>
            <a:off x="152400" y="694871"/>
            <a:ext cx="9361108" cy="6010729"/>
          </a:xfrm>
          <a:prstGeom prst="rect">
            <a:avLst/>
          </a:prstGeom>
          <a:noFill/>
          <a:ln>
            <a:noFill/>
          </a:ln>
        </p:spPr>
      </p:pic>
      <p:sp>
        <p:nvSpPr>
          <p:cNvPr id="47" name="Google Shape;47;p6"/>
          <p:cNvSpPr txBox="1"/>
          <p:nvPr/>
        </p:nvSpPr>
        <p:spPr>
          <a:xfrm>
            <a:off x="8273650" y="6003000"/>
            <a:ext cx="5337600" cy="7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JP"/>
              <a:t>セグメント＞会社＞勘定</a:t>
            </a:r>
            <a:r>
              <a:rPr lang="ja-JP"/>
              <a:t>、カテゴリ</a:t>
            </a:r>
            <a:endParaRPr/>
          </a:p>
          <a:p>
            <a:pPr indent="0" lvl="0" marL="0" rtl="0" algn="l">
              <a:spcBef>
                <a:spcPts val="0"/>
              </a:spcBef>
              <a:spcAft>
                <a:spcPts val="0"/>
              </a:spcAft>
              <a:buNone/>
            </a:pPr>
            <a:r>
              <a:rPr lang="ja-JP"/>
              <a:t>ごとの金額をそれぞれ出すイメージ</a:t>
            </a:r>
            <a:endParaRPr/>
          </a:p>
        </p:txBody>
      </p:sp>
      <p:sp>
        <p:nvSpPr>
          <p:cNvPr id="48" name="Google Shape;48;p6"/>
          <p:cNvSpPr/>
          <p:nvPr/>
        </p:nvSpPr>
        <p:spPr>
          <a:xfrm>
            <a:off x="1989457" y="111975"/>
            <a:ext cx="2425200" cy="951900"/>
          </a:xfrm>
          <a:prstGeom prst="wedgeRectCallout">
            <a:avLst>
              <a:gd fmla="val 22115" name="adj1"/>
              <a:gd fmla="val 153635"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sz="1200"/>
              <a:t>カレンダーマスタをER図に入れてますが</a:t>
            </a:r>
            <a:endParaRPr sz="1200"/>
          </a:p>
          <a:p>
            <a:pPr indent="0" lvl="0" marL="0" rtl="0" algn="ctr">
              <a:spcBef>
                <a:spcPts val="0"/>
              </a:spcBef>
              <a:spcAft>
                <a:spcPts val="0"/>
              </a:spcAft>
              <a:buNone/>
            </a:pPr>
            <a:r>
              <a:rPr lang="ja-JP" sz="1200"/>
              <a:t>ZBWCH0140_TXT使えそうなら不要です。</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7"/>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ja-JP"/>
              <a:t>財務PLダッシュボード</a:t>
            </a:r>
            <a:endParaRPr/>
          </a:p>
        </p:txBody>
      </p:sp>
      <p:sp>
        <p:nvSpPr>
          <p:cNvPr id="55" name="Google Shape;55;p7"/>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graphicFrame>
        <p:nvGraphicFramePr>
          <p:cNvPr id="56" name="Google Shape;56;p7"/>
          <p:cNvGraphicFramePr/>
          <p:nvPr/>
        </p:nvGraphicFramePr>
        <p:xfrm>
          <a:off x="61913" y="899000"/>
          <a:ext cx="3000000" cy="3000000"/>
        </p:xfrm>
        <a:graphic>
          <a:graphicData uri="http://schemas.openxmlformats.org/drawingml/2006/table">
            <a:tbl>
              <a:tblPr>
                <a:noFill/>
                <a:tableStyleId>{8FEAE3B1-C79F-4BF4-9588-116DF343F537}</a:tableStyleId>
              </a:tblPr>
              <a:tblGrid>
                <a:gridCol w="663525"/>
                <a:gridCol w="3799975"/>
                <a:gridCol w="7530875"/>
              </a:tblGrid>
              <a:tr h="247650">
                <a:tc>
                  <a:txBody>
                    <a:bodyPr/>
                    <a:lstStyle/>
                    <a:p>
                      <a:pPr indent="0" lvl="0" marL="0" rtl="0" algn="ctr">
                        <a:lnSpc>
                          <a:spcPct val="115000"/>
                        </a:lnSpc>
                        <a:spcBef>
                          <a:spcPts val="0"/>
                        </a:spcBef>
                        <a:spcAft>
                          <a:spcPts val="0"/>
                        </a:spcAft>
                        <a:buNone/>
                      </a:pPr>
                      <a:r>
                        <a:rPr b="1" lang="ja-JP" sz="1100">
                          <a:latin typeface="Meiryo"/>
                          <a:ea typeface="Meiryo"/>
                          <a:cs typeface="Meiryo"/>
                          <a:sym typeface="Meiryo"/>
                        </a:rPr>
                        <a:t>No</a:t>
                      </a:r>
                      <a:endParaRPr b="1" sz="1100">
                        <a:latin typeface="Meiryo"/>
                        <a:ea typeface="Meiryo"/>
                        <a:cs typeface="Meiryo"/>
                        <a:sym typeface="Meiry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ja-JP" sz="1100">
                          <a:latin typeface="Meiryo"/>
                          <a:ea typeface="Meiryo"/>
                          <a:cs typeface="Meiryo"/>
                          <a:sym typeface="Meiryo"/>
                        </a:rPr>
                        <a:t>画面名</a:t>
                      </a:r>
                      <a:endParaRPr b="1" sz="1100">
                        <a:latin typeface="Meiryo"/>
                        <a:ea typeface="Meiryo"/>
                        <a:cs typeface="Meiryo"/>
                        <a:sym typeface="Meiry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ja-JP" sz="1100">
                          <a:latin typeface="Meiryo"/>
                          <a:ea typeface="Meiryo"/>
                          <a:cs typeface="Meiryo"/>
                          <a:sym typeface="Meiryo"/>
                        </a:rPr>
                        <a:t>主な機能</a:t>
                      </a:r>
                      <a:endParaRPr b="1" sz="1100">
                        <a:latin typeface="Meiryo"/>
                        <a:ea typeface="Meiryo"/>
                        <a:cs typeface="Meiryo"/>
                        <a:sym typeface="Meiry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445300">
                <a:tc>
                  <a:txBody>
                    <a:bodyPr/>
                    <a:lstStyle/>
                    <a:p>
                      <a:pPr indent="0" lvl="0" marL="0" rtl="0" algn="l">
                        <a:spcBef>
                          <a:spcPts val="0"/>
                        </a:spcBef>
                        <a:spcAft>
                          <a:spcPts val="0"/>
                        </a:spcAft>
                        <a:buNone/>
                      </a:pPr>
                      <a:r>
                        <a:rPr lang="ja-JP"/>
                        <a:t>①</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t>国内関連会社セグメント別_売上/利益</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t>QP＋国内の関連会社をセグメントごとにグルーピングし、表形式で前年差と計画差と見通し差を表示。マイナスは赤字で表示する。単月/累計それぞれを算出。計画は年初計画。</a:t>
                      </a:r>
                      <a:endParaRPr/>
                    </a:p>
                    <a:p>
                      <a:pPr indent="0" lvl="0" marL="0" rtl="0" algn="l">
                        <a:spcBef>
                          <a:spcPts val="0"/>
                        </a:spcBef>
                        <a:spcAft>
                          <a:spcPts val="0"/>
                        </a:spcAft>
                        <a:buNone/>
                      </a:pPr>
                      <a:r>
                        <a:rPr lang="ja-JP"/>
                        <a:t>会社にドリルダウンも可能</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250">
                <a:tc>
                  <a:txBody>
                    <a:bodyPr/>
                    <a:lstStyle/>
                    <a:p>
                      <a:pPr indent="0" lvl="0" marL="0" rtl="0" algn="l">
                        <a:spcBef>
                          <a:spcPts val="0"/>
                        </a:spcBef>
                        <a:spcAft>
                          <a:spcPts val="0"/>
                        </a:spcAft>
                        <a:buNone/>
                      </a:pPr>
                      <a:r>
                        <a:rPr lang="ja-JP"/>
                        <a:t>②</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t>国内関連会社セグメント別_売上/利益_</a:t>
                      </a:r>
                      <a:r>
                        <a:rPr lang="ja-JP"/>
                        <a:t>月次推移</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t>①の折れ線グラフによる月次推移。</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250">
                <a:tc>
                  <a:txBody>
                    <a:bodyPr/>
                    <a:lstStyle/>
                    <a:p>
                      <a:pPr indent="0" lvl="0" marL="0" rtl="0" algn="l">
                        <a:spcBef>
                          <a:spcPts val="0"/>
                        </a:spcBef>
                        <a:spcAft>
                          <a:spcPts val="0"/>
                        </a:spcAft>
                        <a:buNone/>
                      </a:pPr>
                      <a:r>
                        <a:rPr lang="ja-JP"/>
                        <a:t>③</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t>国内関連会社別_売上/利益</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ja-JP">
                          <a:solidFill>
                            <a:schemeClr val="dk1"/>
                          </a:solidFill>
                        </a:rPr>
                        <a:t>QP＋国内の関連会社の売上/利益を表形式で前年差と計画差と見通し差を表示。折れ線で月次推移も表示。マイナスは赤字で表示する。単月/累計それぞれを算出。計画は年初計画。</a:t>
                      </a:r>
                      <a:endParaRPr>
                        <a:solidFill>
                          <a:schemeClr val="dk1"/>
                        </a:solidFill>
                      </a:endParaRPr>
                    </a:p>
                    <a:p>
                      <a:pPr indent="0" lvl="0" marL="0" rtl="0" algn="l">
                        <a:spcBef>
                          <a:spcPts val="0"/>
                        </a:spcBef>
                        <a:spcAft>
                          <a:spcPts val="0"/>
                        </a:spcAft>
                        <a:buClr>
                          <a:schemeClr val="dk1"/>
                        </a:buClr>
                        <a:buSzPts val="1100"/>
                        <a:buFont typeface="Arial"/>
                        <a:buNone/>
                      </a:pPr>
                      <a:r>
                        <a:rPr lang="ja-JP">
                          <a:solidFill>
                            <a:schemeClr val="dk1"/>
                          </a:solidFill>
                        </a:rPr>
                        <a:t>会社にドリルダウンも可能</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250">
                <a:tc>
                  <a:txBody>
                    <a:bodyPr/>
                    <a:lstStyle/>
                    <a:p>
                      <a:pPr indent="0" lvl="0" marL="0" rtl="0" algn="l">
                        <a:spcBef>
                          <a:spcPts val="0"/>
                        </a:spcBef>
                        <a:spcAft>
                          <a:spcPts val="0"/>
                        </a:spcAft>
                        <a:buNone/>
                      </a:pPr>
                      <a:r>
                        <a:rPr lang="ja-JP"/>
                        <a:t>④</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t>国内関連会社別_販管費</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solidFill>
                            <a:schemeClr val="dk1"/>
                          </a:solidFill>
                        </a:rPr>
                        <a:t>QP＋国内の関連会社の販管費を表形式で前年差と計画差と見通し差を表示。折れ線で月次推移も表示。マイナスは赤字で表示する。単月/累計それぞれを算出。計画は年初計画。</a:t>
                      </a:r>
                      <a:endParaRPr>
                        <a:solidFill>
                          <a:schemeClr val="dk1"/>
                        </a:solidFill>
                      </a:endParaRPr>
                    </a:p>
                    <a:p>
                      <a:pPr indent="0" lvl="0" marL="0" rtl="0" algn="l">
                        <a:spcBef>
                          <a:spcPts val="0"/>
                        </a:spcBef>
                        <a:spcAft>
                          <a:spcPts val="0"/>
                        </a:spcAft>
                        <a:buClr>
                          <a:schemeClr val="dk1"/>
                        </a:buClr>
                        <a:buSzPts val="1100"/>
                        <a:buFont typeface="Arial"/>
                        <a:buNone/>
                      </a:pPr>
                      <a:r>
                        <a:rPr lang="ja-JP">
                          <a:solidFill>
                            <a:schemeClr val="dk1"/>
                          </a:solidFill>
                        </a:rPr>
                        <a:t>会社にドリルダウンも可能</a:t>
                      </a:r>
                      <a:endParaRPr>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250">
                <a:tc>
                  <a:txBody>
                    <a:bodyPr/>
                    <a:lstStyle/>
                    <a:p>
                      <a:pPr indent="0" lvl="0" marL="0" rtl="0" algn="l">
                        <a:spcBef>
                          <a:spcPts val="0"/>
                        </a:spcBef>
                        <a:spcAft>
                          <a:spcPts val="0"/>
                        </a:spcAft>
                        <a:buNone/>
                      </a:pPr>
                      <a:r>
                        <a:rPr lang="ja-JP"/>
                        <a:t>⑤</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t>PL一覧</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ja-JP"/>
                        <a:t>当年（実績）、前年、年初計画、前年差、計画差を一覧で示す。</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7" name="Google Shape;57;p7"/>
          <p:cNvSpPr txBox="1"/>
          <p:nvPr/>
        </p:nvSpPr>
        <p:spPr>
          <a:xfrm>
            <a:off x="61925" y="5141575"/>
            <a:ext cx="1199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JP"/>
              <a:t>https://docs.google.com/spreadsheets/d/1R3WAiycCDJAoyYHCGZUoKph12dpRShP7XqEp5MoAbN4/edit?gid=390223578#gid=390223578</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8"/>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ja-JP"/>
              <a:t>財務PL①（国内関連会社セグメント別_売上/利益）</a:t>
            </a:r>
            <a:endParaRPr/>
          </a:p>
        </p:txBody>
      </p:sp>
      <p:sp>
        <p:nvSpPr>
          <p:cNvPr id="64" name="Google Shape;64;p8"/>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pic>
        <p:nvPicPr>
          <p:cNvPr id="65" name="Google Shape;65;p8"/>
          <p:cNvPicPr preferRelativeResize="0"/>
          <p:nvPr/>
        </p:nvPicPr>
        <p:blipFill>
          <a:blip r:embed="rId3">
            <a:alphaModFix/>
          </a:blip>
          <a:stretch>
            <a:fillRect/>
          </a:stretch>
        </p:blipFill>
        <p:spPr>
          <a:xfrm>
            <a:off x="152400" y="1746271"/>
            <a:ext cx="11887199" cy="3436951"/>
          </a:xfrm>
          <a:prstGeom prst="rect">
            <a:avLst/>
          </a:prstGeom>
          <a:noFill/>
          <a:ln>
            <a:noFill/>
          </a:ln>
        </p:spPr>
      </p:pic>
      <p:sp>
        <p:nvSpPr>
          <p:cNvPr id="66" name="Google Shape;66;p8"/>
          <p:cNvSpPr/>
          <p:nvPr/>
        </p:nvSpPr>
        <p:spPr>
          <a:xfrm>
            <a:off x="148225" y="749274"/>
            <a:ext cx="17826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年度</a:t>
            </a:r>
            <a:endParaRPr b="0" i="0" sz="1500" u="none" cap="none" strike="noStrike">
              <a:solidFill>
                <a:srgbClr val="000000"/>
              </a:solidFill>
              <a:latin typeface="Arial"/>
              <a:ea typeface="Arial"/>
              <a:cs typeface="Arial"/>
              <a:sym typeface="Arial"/>
            </a:endParaRPr>
          </a:p>
        </p:txBody>
      </p:sp>
      <p:sp>
        <p:nvSpPr>
          <p:cNvPr id="67" name="Google Shape;67;p8"/>
          <p:cNvSpPr/>
          <p:nvPr/>
        </p:nvSpPr>
        <p:spPr>
          <a:xfrm>
            <a:off x="783425" y="859674"/>
            <a:ext cx="1040100" cy="3231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2025年▼</a:t>
            </a:r>
            <a:endParaRPr b="0" i="0" sz="1500" u="none" cap="none" strike="noStrike">
              <a:solidFill>
                <a:srgbClr val="000000"/>
              </a:solidFill>
              <a:latin typeface="Arial"/>
              <a:ea typeface="Arial"/>
              <a:cs typeface="Arial"/>
              <a:sym typeface="Arial"/>
            </a:endParaRPr>
          </a:p>
        </p:txBody>
      </p:sp>
      <p:sp>
        <p:nvSpPr>
          <p:cNvPr id="68" name="Google Shape;68;p8"/>
          <p:cNvSpPr/>
          <p:nvPr/>
        </p:nvSpPr>
        <p:spPr>
          <a:xfrm>
            <a:off x="205980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月次</a:t>
            </a:r>
            <a:endParaRPr b="0" i="0" sz="1500" u="none" cap="none" strike="noStrike">
              <a:solidFill>
                <a:srgbClr val="000000"/>
              </a:solidFill>
              <a:latin typeface="Arial"/>
              <a:ea typeface="Arial"/>
              <a:cs typeface="Arial"/>
              <a:sym typeface="Arial"/>
            </a:endParaRPr>
          </a:p>
        </p:txBody>
      </p:sp>
      <p:sp>
        <p:nvSpPr>
          <p:cNvPr id="69" name="Google Shape;69;p8"/>
          <p:cNvSpPr/>
          <p:nvPr/>
        </p:nvSpPr>
        <p:spPr>
          <a:xfrm>
            <a:off x="269500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4月▼</a:t>
            </a:r>
            <a:endParaRPr b="0" i="0" sz="1500" u="none" cap="none" strike="noStrike">
              <a:solidFill>
                <a:srgbClr val="000000"/>
              </a:solidFill>
              <a:latin typeface="Arial"/>
              <a:ea typeface="Arial"/>
              <a:cs typeface="Arial"/>
              <a:sym typeface="Arial"/>
            </a:endParaRPr>
          </a:p>
        </p:txBody>
      </p:sp>
      <p:sp>
        <p:nvSpPr>
          <p:cNvPr id="70" name="Google Shape;70;p8"/>
          <p:cNvSpPr/>
          <p:nvPr/>
        </p:nvSpPr>
        <p:spPr>
          <a:xfrm>
            <a:off x="1029385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単位</a:t>
            </a:r>
            <a:endParaRPr b="0" i="0" sz="1500" u="none" cap="none" strike="noStrike">
              <a:solidFill>
                <a:srgbClr val="000000"/>
              </a:solidFill>
              <a:latin typeface="Arial"/>
              <a:ea typeface="Arial"/>
              <a:cs typeface="Arial"/>
              <a:sym typeface="Arial"/>
            </a:endParaRPr>
          </a:p>
        </p:txBody>
      </p:sp>
      <p:sp>
        <p:nvSpPr>
          <p:cNvPr id="71" name="Google Shape;71;p8"/>
          <p:cNvSpPr/>
          <p:nvPr/>
        </p:nvSpPr>
        <p:spPr>
          <a:xfrm>
            <a:off x="1092905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百万円</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72" name="Google Shape;72;p8"/>
          <p:cNvSpPr/>
          <p:nvPr/>
        </p:nvSpPr>
        <p:spPr>
          <a:xfrm>
            <a:off x="3863975" y="749250"/>
            <a:ext cx="22728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セグメント</a:t>
            </a:r>
            <a:endParaRPr b="0" i="0" sz="1500" u="none" cap="none" strike="noStrike">
              <a:solidFill>
                <a:srgbClr val="000000"/>
              </a:solidFill>
              <a:latin typeface="Arial"/>
              <a:ea typeface="Arial"/>
              <a:cs typeface="Arial"/>
              <a:sym typeface="Arial"/>
            </a:endParaRPr>
          </a:p>
        </p:txBody>
      </p:sp>
      <p:sp>
        <p:nvSpPr>
          <p:cNvPr id="73" name="Google Shape;73;p8"/>
          <p:cNvSpPr/>
          <p:nvPr/>
        </p:nvSpPr>
        <p:spPr>
          <a:xfrm>
            <a:off x="5020738"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市販</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74" name="Google Shape;74;p8"/>
          <p:cNvSpPr/>
          <p:nvPr/>
        </p:nvSpPr>
        <p:spPr>
          <a:xfrm>
            <a:off x="586575" y="5536825"/>
            <a:ext cx="2197200" cy="11985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a:t>スライサーには不要だが、マトリクスでは会社までドリルダウンしたい</a:t>
            </a:r>
            <a:endParaRPr/>
          </a:p>
        </p:txBody>
      </p:sp>
      <p:sp>
        <p:nvSpPr>
          <p:cNvPr id="75" name="Google Shape;75;p8"/>
          <p:cNvSpPr/>
          <p:nvPr/>
        </p:nvSpPr>
        <p:spPr>
          <a:xfrm>
            <a:off x="3549475" y="5470250"/>
            <a:ext cx="2587200" cy="11985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JP"/>
              <a:t>計画差の横に見通し差もだす</a:t>
            </a:r>
            <a:endParaRPr/>
          </a:p>
          <a:p>
            <a:pPr indent="0" lvl="0" marL="0" rtl="0" algn="l">
              <a:spcBef>
                <a:spcPts val="0"/>
              </a:spcBef>
              <a:spcAft>
                <a:spcPts val="0"/>
              </a:spcAft>
              <a:buNone/>
            </a:pPr>
            <a:r>
              <a:rPr lang="ja-JP"/>
              <a:t>見通しが、2Q、3Qのように、何種類かあるので切り替えれるようにしたい</a:t>
            </a:r>
            <a:endParaRPr/>
          </a:p>
        </p:txBody>
      </p:sp>
      <p:sp>
        <p:nvSpPr>
          <p:cNvPr id="76" name="Google Shape;76;p8"/>
          <p:cNvSpPr/>
          <p:nvPr/>
        </p:nvSpPr>
        <p:spPr>
          <a:xfrm>
            <a:off x="6265750" y="749250"/>
            <a:ext cx="27783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カテゴリ</a:t>
            </a:r>
            <a:endParaRPr b="0" i="0" sz="1500" u="none" cap="none" strike="noStrike">
              <a:solidFill>
                <a:srgbClr val="000000"/>
              </a:solidFill>
              <a:latin typeface="Arial"/>
              <a:ea typeface="Arial"/>
              <a:cs typeface="Arial"/>
              <a:sym typeface="Arial"/>
            </a:endParaRPr>
          </a:p>
        </p:txBody>
      </p:sp>
      <p:sp>
        <p:nvSpPr>
          <p:cNvPr id="77" name="Google Shape;77;p8"/>
          <p:cNvSpPr/>
          <p:nvPr/>
        </p:nvSpPr>
        <p:spPr>
          <a:xfrm>
            <a:off x="7422529" y="857550"/>
            <a:ext cx="12999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2Q見通し</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78" name="Google Shape;78;p8"/>
          <p:cNvSpPr/>
          <p:nvPr/>
        </p:nvSpPr>
        <p:spPr>
          <a:xfrm>
            <a:off x="9132825" y="5306025"/>
            <a:ext cx="2836200" cy="671100"/>
          </a:xfrm>
          <a:prstGeom prst="wedgeRectCallout">
            <a:avLst>
              <a:gd fmla="val -38277" name="adj1"/>
              <a:gd fmla="val -78122"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a:t>△ではなく、マイナス表記でOK</a:t>
            </a:r>
            <a:endParaRPr/>
          </a:p>
        </p:txBody>
      </p:sp>
      <p:sp>
        <p:nvSpPr>
          <p:cNvPr id="79" name="Google Shape;79;p8"/>
          <p:cNvSpPr/>
          <p:nvPr/>
        </p:nvSpPr>
        <p:spPr>
          <a:xfrm>
            <a:off x="7927625" y="0"/>
            <a:ext cx="2946600" cy="723900"/>
          </a:xfrm>
          <a:prstGeom prst="wedgeRectCallout">
            <a:avLst>
              <a:gd fmla="val -31884" name="adj1"/>
              <a:gd fmla="val 7493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JP" sz="1200"/>
              <a:t>ZBWCH0006_TXT</a:t>
            </a:r>
            <a:endParaRPr sz="1200"/>
          </a:p>
          <a:p>
            <a:pPr indent="0" lvl="0" marL="0" rtl="0" algn="ctr">
              <a:spcBef>
                <a:spcPts val="0"/>
              </a:spcBef>
              <a:spcAft>
                <a:spcPts val="0"/>
              </a:spcAft>
              <a:buNone/>
            </a:pPr>
            <a:r>
              <a:rPr lang="ja-JP" sz="1200"/>
              <a:t>カテゴリテキスト</a:t>
            </a:r>
            <a:endParaRPr sz="1200"/>
          </a:p>
          <a:p>
            <a:pPr indent="0" lvl="0" marL="0" rtl="0" algn="ctr">
              <a:spcBef>
                <a:spcPts val="0"/>
              </a:spcBef>
              <a:spcAft>
                <a:spcPts val="0"/>
              </a:spcAft>
              <a:buNone/>
            </a:pPr>
            <a:r>
              <a:rPr lang="ja-JP" sz="1200"/>
              <a:t>年初計画、見通し（数字なし）をデフォルトとする</a:t>
            </a:r>
            <a:endParaRPr sz="1200"/>
          </a:p>
        </p:txBody>
      </p:sp>
      <p:sp>
        <p:nvSpPr>
          <p:cNvPr id="80" name="Google Shape;80;p8"/>
          <p:cNvSpPr/>
          <p:nvPr/>
        </p:nvSpPr>
        <p:spPr>
          <a:xfrm>
            <a:off x="5670088" y="318775"/>
            <a:ext cx="1530900" cy="430500"/>
          </a:xfrm>
          <a:prstGeom prst="wedgeRectCallout">
            <a:avLst>
              <a:gd fmla="val -31884" name="adj1"/>
              <a:gd fmla="val 7493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JP" sz="1200"/>
              <a:t>ZBWCH0003_TXT</a:t>
            </a:r>
            <a:endParaRPr sz="1200"/>
          </a:p>
          <a:p>
            <a:pPr indent="0" lvl="0" marL="0" rtl="0" algn="ctr">
              <a:spcBef>
                <a:spcPts val="0"/>
              </a:spcBef>
              <a:spcAft>
                <a:spcPts val="0"/>
              </a:spcAft>
              <a:buNone/>
            </a:pPr>
            <a:r>
              <a:rPr lang="ja-JP" sz="1200"/>
              <a:t>事業部名称</a:t>
            </a:r>
            <a:endParaRPr sz="1200"/>
          </a:p>
        </p:txBody>
      </p:sp>
      <p:sp>
        <p:nvSpPr>
          <p:cNvPr id="81" name="Google Shape;81;p8"/>
          <p:cNvSpPr/>
          <p:nvPr/>
        </p:nvSpPr>
        <p:spPr>
          <a:xfrm>
            <a:off x="274063" y="1834375"/>
            <a:ext cx="1530900" cy="430500"/>
          </a:xfrm>
          <a:prstGeom prst="wedgeRectCallout">
            <a:avLst>
              <a:gd fmla="val -31884" name="adj1"/>
              <a:gd fmla="val 7493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sz="1200"/>
              <a:t>ZBWCH0003_TXT</a:t>
            </a:r>
            <a:endParaRPr sz="1200"/>
          </a:p>
          <a:p>
            <a:pPr indent="0" lvl="0" marL="0" rtl="0" algn="ctr">
              <a:spcBef>
                <a:spcPts val="0"/>
              </a:spcBef>
              <a:spcAft>
                <a:spcPts val="0"/>
              </a:spcAft>
              <a:buNone/>
            </a:pPr>
            <a:r>
              <a:rPr lang="ja-JP" sz="1200"/>
              <a:t>事業部名称</a:t>
            </a:r>
            <a:endParaRPr sz="1200"/>
          </a:p>
        </p:txBody>
      </p:sp>
      <p:sp>
        <p:nvSpPr>
          <p:cNvPr id="82" name="Google Shape;82;p8"/>
          <p:cNvSpPr/>
          <p:nvPr/>
        </p:nvSpPr>
        <p:spPr>
          <a:xfrm>
            <a:off x="1113170" y="1127775"/>
            <a:ext cx="2436300" cy="560700"/>
          </a:xfrm>
          <a:prstGeom prst="wedgeRectCallout">
            <a:avLst>
              <a:gd fmla="val 35156" name="adj1"/>
              <a:gd fmla="val 145345"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JP" sz="1200"/>
              <a:t>ZBWCH0050_TXT</a:t>
            </a:r>
            <a:endParaRPr sz="1200"/>
          </a:p>
          <a:p>
            <a:pPr indent="0" lvl="0" marL="0" rtl="0" algn="ctr">
              <a:spcBef>
                <a:spcPts val="0"/>
              </a:spcBef>
              <a:spcAft>
                <a:spcPts val="0"/>
              </a:spcAft>
              <a:buClr>
                <a:schemeClr val="dk1"/>
              </a:buClr>
              <a:buSzPts val="1100"/>
              <a:buFont typeface="Arial"/>
              <a:buNone/>
            </a:pPr>
            <a:r>
              <a:rPr lang="ja-JP" sz="1200"/>
              <a:t>勘定コード（単体）テキスト</a:t>
            </a:r>
            <a:endParaRPr sz="1200"/>
          </a:p>
          <a:p>
            <a:pPr indent="0" lvl="0" marL="0" rtl="0" algn="ctr">
              <a:spcBef>
                <a:spcPts val="0"/>
              </a:spcBef>
              <a:spcAft>
                <a:spcPts val="0"/>
              </a:spcAft>
              <a:buNone/>
            </a:pPr>
            <a:r>
              <a:rPr lang="ja-JP" sz="1200"/>
              <a:t>純売上高</a:t>
            </a:r>
            <a:endParaRPr sz="1200"/>
          </a:p>
        </p:txBody>
      </p:sp>
      <p:sp>
        <p:nvSpPr>
          <p:cNvPr id="83" name="Google Shape;83;p8"/>
          <p:cNvSpPr/>
          <p:nvPr/>
        </p:nvSpPr>
        <p:spPr>
          <a:xfrm>
            <a:off x="6736732" y="1968525"/>
            <a:ext cx="2436300" cy="560700"/>
          </a:xfrm>
          <a:prstGeom prst="wedgeRectCallout">
            <a:avLst>
              <a:gd fmla="val -72231" name="adj1"/>
              <a:gd fmla="val -459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sz="1200"/>
              <a:t>ZBWCH0050_TXT</a:t>
            </a:r>
            <a:endParaRPr sz="1200"/>
          </a:p>
          <a:p>
            <a:pPr indent="0" lvl="0" marL="0" rtl="0" algn="ctr">
              <a:spcBef>
                <a:spcPts val="0"/>
              </a:spcBef>
              <a:spcAft>
                <a:spcPts val="0"/>
              </a:spcAft>
              <a:buNone/>
            </a:pPr>
            <a:r>
              <a:rPr lang="ja-JP" sz="1200"/>
              <a:t>勘定コード（単体）テキスト</a:t>
            </a:r>
            <a:endParaRPr sz="1200"/>
          </a:p>
          <a:p>
            <a:pPr indent="0" lvl="0" marL="0" rtl="0" algn="ctr">
              <a:spcBef>
                <a:spcPts val="0"/>
              </a:spcBef>
              <a:spcAft>
                <a:spcPts val="0"/>
              </a:spcAft>
              <a:buNone/>
            </a:pPr>
            <a:r>
              <a:rPr lang="ja-JP" sz="1200"/>
              <a:t>営業利益</a:t>
            </a:r>
            <a:endParaRPr sz="1200"/>
          </a:p>
        </p:txBody>
      </p:sp>
      <p:sp>
        <p:nvSpPr>
          <p:cNvPr id="84" name="Google Shape;84;p8"/>
          <p:cNvSpPr/>
          <p:nvPr/>
        </p:nvSpPr>
        <p:spPr>
          <a:xfrm>
            <a:off x="3190032" y="2979600"/>
            <a:ext cx="2436300" cy="560700"/>
          </a:xfrm>
          <a:prstGeom prst="wedgeRectCallout">
            <a:avLst>
              <a:gd fmla="val -8632" name="adj1"/>
              <a:gd fmla="val -206144"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sz="1200"/>
              <a:t>単月 = ZBWKF0002残高</a:t>
            </a:r>
            <a:endParaRPr sz="1200"/>
          </a:p>
        </p:txBody>
      </p:sp>
      <p:sp>
        <p:nvSpPr>
          <p:cNvPr id="85" name="Google Shape;85;p8"/>
          <p:cNvSpPr/>
          <p:nvPr/>
        </p:nvSpPr>
        <p:spPr>
          <a:xfrm>
            <a:off x="9913307" y="1516725"/>
            <a:ext cx="2436300" cy="560700"/>
          </a:xfrm>
          <a:prstGeom prst="wedgeRectCallout">
            <a:avLst>
              <a:gd fmla="val -31884" name="adj1"/>
              <a:gd fmla="val 7493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sz="1200"/>
              <a:t>累計</a:t>
            </a:r>
            <a:r>
              <a:rPr lang="ja-JP" sz="1200"/>
              <a:t> = ZBWKF000</a:t>
            </a:r>
            <a:r>
              <a:rPr lang="ja-JP" sz="1200"/>
              <a:t>3累計</a:t>
            </a:r>
            <a:r>
              <a:rPr lang="ja-JP" sz="1200"/>
              <a:t>残高</a:t>
            </a:r>
            <a:endParaRPr sz="1200"/>
          </a:p>
        </p:txBody>
      </p:sp>
      <p:sp>
        <p:nvSpPr>
          <p:cNvPr id="86" name="Google Shape;86;p8"/>
          <p:cNvSpPr txBox="1"/>
          <p:nvPr/>
        </p:nvSpPr>
        <p:spPr>
          <a:xfrm>
            <a:off x="4107250" y="1345561"/>
            <a:ext cx="27783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JP"/>
              <a:t>カテゴリ：2Q計画、2Q見通し</a:t>
            </a:r>
            <a:endParaRPr/>
          </a:p>
        </p:txBody>
      </p:sp>
      <p:sp>
        <p:nvSpPr>
          <p:cNvPr id="87" name="Google Shape;87;p8"/>
          <p:cNvSpPr/>
          <p:nvPr/>
        </p:nvSpPr>
        <p:spPr>
          <a:xfrm>
            <a:off x="5578100" y="1127775"/>
            <a:ext cx="2197200" cy="4305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a:t>会社追加</a:t>
            </a:r>
            <a:r>
              <a:rPr lang="ja-JP"/>
              <a:t>（10/15修正）</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 name="Shape 92"/>
        <p:cNvGrpSpPr/>
        <p:nvPr/>
      </p:nvGrpSpPr>
      <p:grpSpPr>
        <a:xfrm>
          <a:off x="0" y="0"/>
          <a:ext cx="0" cy="0"/>
          <a:chOff x="0" y="0"/>
          <a:chExt cx="0" cy="0"/>
        </a:xfrm>
      </p:grpSpPr>
      <p:sp>
        <p:nvSpPr>
          <p:cNvPr id="93" name="Google Shape;93;p9"/>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ja-JP"/>
              <a:t>参考）財務PL①→ドリルダウンイメージ</a:t>
            </a:r>
            <a:endParaRPr/>
          </a:p>
        </p:txBody>
      </p:sp>
      <p:sp>
        <p:nvSpPr>
          <p:cNvPr id="94" name="Google Shape;94;p9"/>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pic>
        <p:nvPicPr>
          <p:cNvPr id="95" name="Google Shape;95;p9"/>
          <p:cNvPicPr preferRelativeResize="0"/>
          <p:nvPr/>
        </p:nvPicPr>
        <p:blipFill>
          <a:blip r:embed="rId3">
            <a:alphaModFix/>
          </a:blip>
          <a:stretch>
            <a:fillRect/>
          </a:stretch>
        </p:blipFill>
        <p:spPr>
          <a:xfrm>
            <a:off x="152400" y="694871"/>
            <a:ext cx="11165969" cy="6010728"/>
          </a:xfrm>
          <a:prstGeom prst="rect">
            <a:avLst/>
          </a:prstGeom>
          <a:noFill/>
          <a:ln>
            <a:noFill/>
          </a:ln>
        </p:spPr>
      </p:pic>
      <p:sp>
        <p:nvSpPr>
          <p:cNvPr id="96" name="Google Shape;96;p9"/>
          <p:cNvSpPr/>
          <p:nvPr/>
        </p:nvSpPr>
        <p:spPr>
          <a:xfrm>
            <a:off x="374538" y="1084275"/>
            <a:ext cx="1530900" cy="430500"/>
          </a:xfrm>
          <a:prstGeom prst="wedgeRectCallout">
            <a:avLst>
              <a:gd fmla="val -31884" name="adj1"/>
              <a:gd fmla="val 7493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sz="1200"/>
              <a:t>ZBWCH0003_TXT</a:t>
            </a:r>
            <a:endParaRPr sz="1200"/>
          </a:p>
          <a:p>
            <a:pPr indent="0" lvl="0" marL="0" rtl="0" algn="ctr">
              <a:spcBef>
                <a:spcPts val="0"/>
              </a:spcBef>
              <a:spcAft>
                <a:spcPts val="0"/>
              </a:spcAft>
              <a:buNone/>
            </a:pPr>
            <a:r>
              <a:rPr lang="ja-JP" sz="1200"/>
              <a:t>事業部名称</a:t>
            </a:r>
            <a:endParaRPr sz="1200"/>
          </a:p>
        </p:txBody>
      </p:sp>
      <p:sp>
        <p:nvSpPr>
          <p:cNvPr id="97" name="Google Shape;97;p9"/>
          <p:cNvSpPr/>
          <p:nvPr/>
        </p:nvSpPr>
        <p:spPr>
          <a:xfrm>
            <a:off x="1995013" y="1084275"/>
            <a:ext cx="1530900" cy="430500"/>
          </a:xfrm>
          <a:prstGeom prst="wedgeRectCallout">
            <a:avLst>
              <a:gd fmla="val -31884" name="adj1"/>
              <a:gd fmla="val 7493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JP" sz="1200"/>
              <a:t>ZBWCH0047_TXT</a:t>
            </a:r>
            <a:endParaRPr sz="1200"/>
          </a:p>
          <a:p>
            <a:pPr indent="0" lvl="0" marL="0" rtl="0" algn="ctr">
              <a:spcBef>
                <a:spcPts val="0"/>
              </a:spcBef>
              <a:spcAft>
                <a:spcPts val="0"/>
              </a:spcAft>
              <a:buNone/>
            </a:pPr>
            <a:r>
              <a:rPr lang="ja-JP" sz="1200"/>
              <a:t>会社名称</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0"/>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ja-JP"/>
              <a:t>財務PL②（①の推移_売上/利益）</a:t>
            </a:r>
            <a:endParaRPr/>
          </a:p>
        </p:txBody>
      </p:sp>
      <p:sp>
        <p:nvSpPr>
          <p:cNvPr id="104" name="Google Shape;104;p10"/>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pic>
        <p:nvPicPr>
          <p:cNvPr id="105" name="Google Shape;105;p10"/>
          <p:cNvPicPr preferRelativeResize="0"/>
          <p:nvPr/>
        </p:nvPicPr>
        <p:blipFill>
          <a:blip r:embed="rId3">
            <a:alphaModFix/>
          </a:blip>
          <a:stretch>
            <a:fillRect/>
          </a:stretch>
        </p:blipFill>
        <p:spPr>
          <a:xfrm>
            <a:off x="976550" y="1751200"/>
            <a:ext cx="10025800" cy="4921101"/>
          </a:xfrm>
          <a:prstGeom prst="rect">
            <a:avLst/>
          </a:prstGeom>
          <a:noFill/>
          <a:ln>
            <a:noFill/>
          </a:ln>
        </p:spPr>
      </p:pic>
      <p:sp>
        <p:nvSpPr>
          <p:cNvPr id="106" name="Google Shape;106;p10"/>
          <p:cNvSpPr/>
          <p:nvPr/>
        </p:nvSpPr>
        <p:spPr>
          <a:xfrm>
            <a:off x="148225" y="749274"/>
            <a:ext cx="17826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年度</a:t>
            </a:r>
            <a:endParaRPr b="0" i="0" sz="1500" u="none" cap="none" strike="noStrike">
              <a:solidFill>
                <a:srgbClr val="000000"/>
              </a:solidFill>
              <a:latin typeface="Arial"/>
              <a:ea typeface="Arial"/>
              <a:cs typeface="Arial"/>
              <a:sym typeface="Arial"/>
            </a:endParaRPr>
          </a:p>
        </p:txBody>
      </p:sp>
      <p:sp>
        <p:nvSpPr>
          <p:cNvPr id="107" name="Google Shape;107;p10"/>
          <p:cNvSpPr/>
          <p:nvPr/>
        </p:nvSpPr>
        <p:spPr>
          <a:xfrm>
            <a:off x="783425" y="859674"/>
            <a:ext cx="1040100" cy="3231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2025年▼</a:t>
            </a:r>
            <a:endParaRPr b="0" i="0" sz="1500" u="none" cap="none" strike="noStrike">
              <a:solidFill>
                <a:srgbClr val="000000"/>
              </a:solidFill>
              <a:latin typeface="Arial"/>
              <a:ea typeface="Arial"/>
              <a:cs typeface="Arial"/>
              <a:sym typeface="Arial"/>
            </a:endParaRPr>
          </a:p>
        </p:txBody>
      </p:sp>
      <p:sp>
        <p:nvSpPr>
          <p:cNvPr id="108" name="Google Shape;108;p10"/>
          <p:cNvSpPr/>
          <p:nvPr/>
        </p:nvSpPr>
        <p:spPr>
          <a:xfrm>
            <a:off x="205980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月次</a:t>
            </a:r>
            <a:endParaRPr b="0" i="0" sz="1500" u="none" cap="none" strike="noStrike">
              <a:solidFill>
                <a:srgbClr val="000000"/>
              </a:solidFill>
              <a:latin typeface="Arial"/>
              <a:ea typeface="Arial"/>
              <a:cs typeface="Arial"/>
              <a:sym typeface="Arial"/>
            </a:endParaRPr>
          </a:p>
        </p:txBody>
      </p:sp>
      <p:sp>
        <p:nvSpPr>
          <p:cNvPr id="109" name="Google Shape;109;p10"/>
          <p:cNvSpPr/>
          <p:nvPr/>
        </p:nvSpPr>
        <p:spPr>
          <a:xfrm>
            <a:off x="269500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4月▼</a:t>
            </a:r>
            <a:endParaRPr b="0" i="0" sz="1500" u="none" cap="none" strike="noStrike">
              <a:solidFill>
                <a:srgbClr val="000000"/>
              </a:solidFill>
              <a:latin typeface="Arial"/>
              <a:ea typeface="Arial"/>
              <a:cs typeface="Arial"/>
              <a:sym typeface="Arial"/>
            </a:endParaRPr>
          </a:p>
        </p:txBody>
      </p:sp>
      <p:sp>
        <p:nvSpPr>
          <p:cNvPr id="110" name="Google Shape;110;p10"/>
          <p:cNvSpPr/>
          <p:nvPr/>
        </p:nvSpPr>
        <p:spPr>
          <a:xfrm>
            <a:off x="1029385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単位</a:t>
            </a:r>
            <a:endParaRPr b="0" i="0" sz="1500" u="none" cap="none" strike="noStrike">
              <a:solidFill>
                <a:srgbClr val="000000"/>
              </a:solidFill>
              <a:latin typeface="Arial"/>
              <a:ea typeface="Arial"/>
              <a:cs typeface="Arial"/>
              <a:sym typeface="Arial"/>
            </a:endParaRPr>
          </a:p>
        </p:txBody>
      </p:sp>
      <p:sp>
        <p:nvSpPr>
          <p:cNvPr id="111" name="Google Shape;111;p10"/>
          <p:cNvSpPr/>
          <p:nvPr/>
        </p:nvSpPr>
        <p:spPr>
          <a:xfrm>
            <a:off x="1092905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百万円</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12" name="Google Shape;112;p10"/>
          <p:cNvSpPr/>
          <p:nvPr/>
        </p:nvSpPr>
        <p:spPr>
          <a:xfrm>
            <a:off x="3863975" y="749250"/>
            <a:ext cx="22728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セグメント</a:t>
            </a:r>
            <a:endParaRPr b="0" i="0" sz="1500" u="none" cap="none" strike="noStrike">
              <a:solidFill>
                <a:srgbClr val="000000"/>
              </a:solidFill>
              <a:latin typeface="Arial"/>
              <a:ea typeface="Arial"/>
              <a:cs typeface="Arial"/>
              <a:sym typeface="Arial"/>
            </a:endParaRPr>
          </a:p>
        </p:txBody>
      </p:sp>
      <p:sp>
        <p:nvSpPr>
          <p:cNvPr id="113" name="Google Shape;113;p10"/>
          <p:cNvSpPr/>
          <p:nvPr/>
        </p:nvSpPr>
        <p:spPr>
          <a:xfrm>
            <a:off x="5020738"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市販</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14" name="Google Shape;114;p10"/>
          <p:cNvSpPr/>
          <p:nvPr/>
        </p:nvSpPr>
        <p:spPr>
          <a:xfrm>
            <a:off x="10185550" y="4252400"/>
            <a:ext cx="2197200" cy="11985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a:t>計画の横に見</a:t>
            </a:r>
            <a:r>
              <a:rPr lang="ja-JP"/>
              <a:t>通し</a:t>
            </a:r>
            <a:r>
              <a:rPr lang="ja-JP"/>
              <a:t>もだす</a:t>
            </a:r>
            <a:endParaRPr/>
          </a:p>
          <a:p>
            <a:pPr indent="0" lvl="0" marL="0" rtl="0" algn="ctr">
              <a:spcBef>
                <a:spcPts val="0"/>
              </a:spcBef>
              <a:spcAft>
                <a:spcPts val="0"/>
              </a:spcAft>
              <a:buNone/>
            </a:pPr>
            <a:r>
              <a:rPr lang="ja-JP"/>
              <a:t>（10/15修正）</a:t>
            </a:r>
            <a:endParaRPr/>
          </a:p>
        </p:txBody>
      </p:sp>
      <p:sp>
        <p:nvSpPr>
          <p:cNvPr id="115" name="Google Shape;115;p10"/>
          <p:cNvSpPr/>
          <p:nvPr/>
        </p:nvSpPr>
        <p:spPr>
          <a:xfrm>
            <a:off x="6265750" y="749250"/>
            <a:ext cx="27783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カテゴリ</a:t>
            </a:r>
            <a:endParaRPr b="0" i="0" sz="1500" u="none" cap="none" strike="noStrike">
              <a:solidFill>
                <a:srgbClr val="000000"/>
              </a:solidFill>
              <a:latin typeface="Arial"/>
              <a:ea typeface="Arial"/>
              <a:cs typeface="Arial"/>
              <a:sym typeface="Arial"/>
            </a:endParaRPr>
          </a:p>
        </p:txBody>
      </p:sp>
      <p:sp>
        <p:nvSpPr>
          <p:cNvPr id="116" name="Google Shape;116;p10"/>
          <p:cNvSpPr/>
          <p:nvPr/>
        </p:nvSpPr>
        <p:spPr>
          <a:xfrm>
            <a:off x="7422529" y="857550"/>
            <a:ext cx="12999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2Q見通し</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17" name="Google Shape;117;p10"/>
          <p:cNvSpPr txBox="1"/>
          <p:nvPr/>
        </p:nvSpPr>
        <p:spPr>
          <a:xfrm>
            <a:off x="4464750" y="1386111"/>
            <a:ext cx="27783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JP"/>
              <a:t>カテゴリ：2Q計画、2Q見通し</a:t>
            </a:r>
            <a:endParaRPr/>
          </a:p>
        </p:txBody>
      </p:sp>
      <p:sp>
        <p:nvSpPr>
          <p:cNvPr id="118" name="Google Shape;118;p10"/>
          <p:cNvSpPr/>
          <p:nvPr/>
        </p:nvSpPr>
        <p:spPr>
          <a:xfrm>
            <a:off x="9763638" y="2250825"/>
            <a:ext cx="1530900" cy="430500"/>
          </a:xfrm>
          <a:prstGeom prst="wedgeRectCallout">
            <a:avLst>
              <a:gd fmla="val -31884" name="adj1"/>
              <a:gd fmla="val 7493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sz="1200"/>
              <a:t>セグメントの合算でOK</a:t>
            </a:r>
            <a:endParaRPr sz="1200"/>
          </a:p>
        </p:txBody>
      </p:sp>
      <p:sp>
        <p:nvSpPr>
          <p:cNvPr id="119" name="Google Shape;119;p10"/>
          <p:cNvSpPr/>
          <p:nvPr/>
        </p:nvSpPr>
        <p:spPr>
          <a:xfrm>
            <a:off x="7927625" y="0"/>
            <a:ext cx="2946600" cy="723900"/>
          </a:xfrm>
          <a:prstGeom prst="wedgeRectCallout">
            <a:avLst>
              <a:gd fmla="val -31884" name="adj1"/>
              <a:gd fmla="val 74937"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JP" sz="1200"/>
              <a:t>ZBWCH0006</a:t>
            </a:r>
            <a:endParaRPr sz="1200"/>
          </a:p>
          <a:p>
            <a:pPr indent="0" lvl="0" marL="0" rtl="0" algn="ctr">
              <a:spcBef>
                <a:spcPts val="0"/>
              </a:spcBef>
              <a:spcAft>
                <a:spcPts val="0"/>
              </a:spcAft>
              <a:buNone/>
            </a:pPr>
            <a:r>
              <a:rPr lang="ja-JP" sz="1200"/>
              <a:t>カテゴリテキスト</a:t>
            </a:r>
            <a:endParaRPr sz="1200"/>
          </a:p>
          <a:p>
            <a:pPr indent="0" lvl="0" marL="0" rtl="0" algn="ctr">
              <a:spcBef>
                <a:spcPts val="0"/>
              </a:spcBef>
              <a:spcAft>
                <a:spcPts val="0"/>
              </a:spcAft>
              <a:buNone/>
            </a:pPr>
            <a:r>
              <a:rPr lang="ja-JP" sz="1200"/>
              <a:t>見通し（数字なし）をデフォルトとする</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1"/>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ja-JP"/>
              <a:t>財務PL③（国内関連会社別_売上/利益）</a:t>
            </a:r>
            <a:endParaRPr/>
          </a:p>
        </p:txBody>
      </p:sp>
      <p:sp>
        <p:nvSpPr>
          <p:cNvPr id="126" name="Google Shape;126;p11"/>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pic>
        <p:nvPicPr>
          <p:cNvPr id="127" name="Google Shape;127;p11"/>
          <p:cNvPicPr preferRelativeResize="0"/>
          <p:nvPr/>
        </p:nvPicPr>
        <p:blipFill rotWithShape="1">
          <a:blip r:embed="rId3">
            <a:alphaModFix/>
          </a:blip>
          <a:srcRect b="67227" l="0" r="0" t="12434"/>
          <a:stretch/>
        </p:blipFill>
        <p:spPr>
          <a:xfrm>
            <a:off x="0" y="1516774"/>
            <a:ext cx="12192000" cy="1548262"/>
          </a:xfrm>
          <a:prstGeom prst="rect">
            <a:avLst/>
          </a:prstGeom>
          <a:noFill/>
          <a:ln>
            <a:noFill/>
          </a:ln>
        </p:spPr>
      </p:pic>
      <p:sp>
        <p:nvSpPr>
          <p:cNvPr id="128" name="Google Shape;128;p11"/>
          <p:cNvSpPr/>
          <p:nvPr/>
        </p:nvSpPr>
        <p:spPr>
          <a:xfrm>
            <a:off x="148225" y="749274"/>
            <a:ext cx="17826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年度</a:t>
            </a:r>
            <a:endParaRPr b="0" i="0" sz="1500" u="none" cap="none" strike="noStrike">
              <a:solidFill>
                <a:srgbClr val="000000"/>
              </a:solidFill>
              <a:latin typeface="Arial"/>
              <a:ea typeface="Arial"/>
              <a:cs typeface="Arial"/>
              <a:sym typeface="Arial"/>
            </a:endParaRPr>
          </a:p>
        </p:txBody>
      </p:sp>
      <p:sp>
        <p:nvSpPr>
          <p:cNvPr id="129" name="Google Shape;129;p11"/>
          <p:cNvSpPr/>
          <p:nvPr/>
        </p:nvSpPr>
        <p:spPr>
          <a:xfrm>
            <a:off x="783425" y="859674"/>
            <a:ext cx="1040100" cy="3231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2025年▼</a:t>
            </a:r>
            <a:endParaRPr b="0" i="0" sz="1500" u="none" cap="none" strike="noStrike">
              <a:solidFill>
                <a:srgbClr val="000000"/>
              </a:solidFill>
              <a:latin typeface="Arial"/>
              <a:ea typeface="Arial"/>
              <a:cs typeface="Arial"/>
              <a:sym typeface="Arial"/>
            </a:endParaRPr>
          </a:p>
        </p:txBody>
      </p:sp>
      <p:sp>
        <p:nvSpPr>
          <p:cNvPr id="130" name="Google Shape;130;p11"/>
          <p:cNvSpPr/>
          <p:nvPr/>
        </p:nvSpPr>
        <p:spPr>
          <a:xfrm>
            <a:off x="205980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月次</a:t>
            </a:r>
            <a:endParaRPr b="0" i="0" sz="1500" u="none" cap="none" strike="noStrike">
              <a:solidFill>
                <a:srgbClr val="000000"/>
              </a:solidFill>
              <a:latin typeface="Arial"/>
              <a:ea typeface="Arial"/>
              <a:cs typeface="Arial"/>
              <a:sym typeface="Arial"/>
            </a:endParaRPr>
          </a:p>
        </p:txBody>
      </p:sp>
      <p:sp>
        <p:nvSpPr>
          <p:cNvPr id="131" name="Google Shape;131;p11"/>
          <p:cNvSpPr/>
          <p:nvPr/>
        </p:nvSpPr>
        <p:spPr>
          <a:xfrm>
            <a:off x="269500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4月▼</a:t>
            </a:r>
            <a:endParaRPr b="0" i="0" sz="1500" u="none" cap="none" strike="noStrike">
              <a:solidFill>
                <a:srgbClr val="000000"/>
              </a:solidFill>
              <a:latin typeface="Arial"/>
              <a:ea typeface="Arial"/>
              <a:cs typeface="Arial"/>
              <a:sym typeface="Arial"/>
            </a:endParaRPr>
          </a:p>
        </p:txBody>
      </p:sp>
      <p:sp>
        <p:nvSpPr>
          <p:cNvPr id="132" name="Google Shape;132;p11"/>
          <p:cNvSpPr/>
          <p:nvPr/>
        </p:nvSpPr>
        <p:spPr>
          <a:xfrm>
            <a:off x="1029385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単位</a:t>
            </a:r>
            <a:endParaRPr b="0" i="0" sz="1500" u="none" cap="none" strike="noStrike">
              <a:solidFill>
                <a:srgbClr val="000000"/>
              </a:solidFill>
              <a:latin typeface="Arial"/>
              <a:ea typeface="Arial"/>
              <a:cs typeface="Arial"/>
              <a:sym typeface="Arial"/>
            </a:endParaRPr>
          </a:p>
        </p:txBody>
      </p:sp>
      <p:sp>
        <p:nvSpPr>
          <p:cNvPr id="133" name="Google Shape;133;p11"/>
          <p:cNvSpPr/>
          <p:nvPr/>
        </p:nvSpPr>
        <p:spPr>
          <a:xfrm>
            <a:off x="1092905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百万円</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pic>
        <p:nvPicPr>
          <p:cNvPr id="134" name="Google Shape;134;p11"/>
          <p:cNvPicPr preferRelativeResize="0"/>
          <p:nvPr/>
        </p:nvPicPr>
        <p:blipFill rotWithShape="1">
          <a:blip r:embed="rId3">
            <a:alphaModFix/>
          </a:blip>
          <a:srcRect b="12160" l="0" r="0" t="41600"/>
          <a:stretch/>
        </p:blipFill>
        <p:spPr>
          <a:xfrm>
            <a:off x="133300" y="3063174"/>
            <a:ext cx="11925400" cy="3315825"/>
          </a:xfrm>
          <a:prstGeom prst="rect">
            <a:avLst/>
          </a:prstGeom>
          <a:noFill/>
          <a:ln>
            <a:noFill/>
          </a:ln>
        </p:spPr>
      </p:pic>
      <p:sp>
        <p:nvSpPr>
          <p:cNvPr id="135" name="Google Shape;135;p11"/>
          <p:cNvSpPr/>
          <p:nvPr/>
        </p:nvSpPr>
        <p:spPr>
          <a:xfrm>
            <a:off x="3863975"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会社</a:t>
            </a:r>
            <a:endParaRPr b="0" i="0" sz="1500" u="none" cap="none" strike="noStrike">
              <a:solidFill>
                <a:srgbClr val="000000"/>
              </a:solidFill>
              <a:latin typeface="Arial"/>
              <a:ea typeface="Arial"/>
              <a:cs typeface="Arial"/>
              <a:sym typeface="Arial"/>
            </a:endParaRPr>
          </a:p>
        </p:txBody>
      </p:sp>
      <p:sp>
        <p:nvSpPr>
          <p:cNvPr id="136" name="Google Shape;136;p11"/>
          <p:cNvSpPr/>
          <p:nvPr/>
        </p:nvSpPr>
        <p:spPr>
          <a:xfrm>
            <a:off x="4499175"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キユーピー</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pic>
        <p:nvPicPr>
          <p:cNvPr id="137" name="Google Shape;137;p11"/>
          <p:cNvPicPr preferRelativeResize="0"/>
          <p:nvPr/>
        </p:nvPicPr>
        <p:blipFill rotWithShape="1">
          <a:blip r:embed="rId4">
            <a:alphaModFix/>
          </a:blip>
          <a:srcRect b="0" l="56651" r="0" t="0"/>
          <a:stretch/>
        </p:blipFill>
        <p:spPr>
          <a:xfrm>
            <a:off x="6536168" y="6261746"/>
            <a:ext cx="4645049" cy="400591"/>
          </a:xfrm>
          <a:prstGeom prst="rect">
            <a:avLst/>
          </a:prstGeom>
          <a:noFill/>
          <a:ln>
            <a:noFill/>
          </a:ln>
        </p:spPr>
      </p:pic>
      <p:pic>
        <p:nvPicPr>
          <p:cNvPr id="138" name="Google Shape;138;p11"/>
          <p:cNvPicPr preferRelativeResize="0"/>
          <p:nvPr/>
        </p:nvPicPr>
        <p:blipFill rotWithShape="1">
          <a:blip r:embed="rId4">
            <a:alphaModFix/>
          </a:blip>
          <a:srcRect b="0" l="-3622" r="55896" t="0"/>
          <a:stretch/>
        </p:blipFill>
        <p:spPr>
          <a:xfrm>
            <a:off x="133293" y="6323525"/>
            <a:ext cx="4935375" cy="457200"/>
          </a:xfrm>
          <a:prstGeom prst="rect">
            <a:avLst/>
          </a:prstGeom>
          <a:noFill/>
          <a:ln>
            <a:noFill/>
          </a:ln>
        </p:spPr>
      </p:pic>
      <p:sp>
        <p:nvSpPr>
          <p:cNvPr id="139" name="Google Shape;139;p11"/>
          <p:cNvSpPr/>
          <p:nvPr/>
        </p:nvSpPr>
        <p:spPr>
          <a:xfrm>
            <a:off x="6265750" y="749250"/>
            <a:ext cx="27783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カテゴリ</a:t>
            </a:r>
            <a:endParaRPr b="0" i="0" sz="1500" u="none" cap="none" strike="noStrike">
              <a:solidFill>
                <a:srgbClr val="000000"/>
              </a:solidFill>
              <a:latin typeface="Arial"/>
              <a:ea typeface="Arial"/>
              <a:cs typeface="Arial"/>
              <a:sym typeface="Arial"/>
            </a:endParaRPr>
          </a:p>
        </p:txBody>
      </p:sp>
      <p:sp>
        <p:nvSpPr>
          <p:cNvPr id="140" name="Google Shape;140;p11"/>
          <p:cNvSpPr/>
          <p:nvPr/>
        </p:nvSpPr>
        <p:spPr>
          <a:xfrm>
            <a:off x="7422529" y="857550"/>
            <a:ext cx="12999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2Q見通し</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41" name="Google Shape;141;p11"/>
          <p:cNvSpPr txBox="1"/>
          <p:nvPr/>
        </p:nvSpPr>
        <p:spPr>
          <a:xfrm>
            <a:off x="4464750" y="1309986"/>
            <a:ext cx="27783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JP"/>
              <a:t>カテゴリ：2Q計画、2Q見通し</a:t>
            </a:r>
            <a:endParaRPr/>
          </a:p>
        </p:txBody>
      </p:sp>
      <p:sp>
        <p:nvSpPr>
          <p:cNvPr id="142" name="Google Shape;142;p11"/>
          <p:cNvSpPr/>
          <p:nvPr/>
        </p:nvSpPr>
        <p:spPr>
          <a:xfrm>
            <a:off x="3559950" y="2833750"/>
            <a:ext cx="2585100" cy="11091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JP"/>
              <a:t>計画差の横に見通し差もだす</a:t>
            </a:r>
            <a:endParaRPr/>
          </a:p>
          <a:p>
            <a:pPr indent="0" lvl="0" marL="0" rtl="0" algn="l">
              <a:spcBef>
                <a:spcPts val="0"/>
              </a:spcBef>
              <a:spcAft>
                <a:spcPts val="0"/>
              </a:spcAft>
              <a:buNone/>
            </a:pPr>
            <a:r>
              <a:rPr lang="ja-JP"/>
              <a:t>見通しが、2Q、3Qのように、何種類かあるので切り替えれるようにしたい</a:t>
            </a:r>
            <a:endParaRPr/>
          </a:p>
        </p:txBody>
      </p:sp>
      <p:sp>
        <p:nvSpPr>
          <p:cNvPr id="143" name="Google Shape;143;p11"/>
          <p:cNvSpPr/>
          <p:nvPr/>
        </p:nvSpPr>
        <p:spPr>
          <a:xfrm>
            <a:off x="1510250" y="5214425"/>
            <a:ext cx="2002800" cy="3252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JP"/>
              <a:t>見通しも足す</a:t>
            </a:r>
            <a:endParaRPr/>
          </a:p>
        </p:txBody>
      </p:sp>
      <p:sp>
        <p:nvSpPr>
          <p:cNvPr id="144" name="Google Shape;144;p11"/>
          <p:cNvSpPr/>
          <p:nvPr/>
        </p:nvSpPr>
        <p:spPr>
          <a:xfrm>
            <a:off x="7422525" y="3500250"/>
            <a:ext cx="2002800" cy="3252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JP"/>
              <a:t>見通しも足す</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ja-JP"/>
              <a:t>財務PL④（国内関連会社別_販管費）</a:t>
            </a:r>
            <a:endParaRPr/>
          </a:p>
        </p:txBody>
      </p:sp>
      <p:sp>
        <p:nvSpPr>
          <p:cNvPr id="151" name="Google Shape;151;p12"/>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pic>
        <p:nvPicPr>
          <p:cNvPr id="152" name="Google Shape;152;p12"/>
          <p:cNvPicPr preferRelativeResize="0"/>
          <p:nvPr/>
        </p:nvPicPr>
        <p:blipFill rotWithShape="1">
          <a:blip r:embed="rId3">
            <a:alphaModFix/>
          </a:blip>
          <a:srcRect b="58907" l="0" r="0" t="6751"/>
          <a:stretch/>
        </p:blipFill>
        <p:spPr>
          <a:xfrm>
            <a:off x="166300" y="1790764"/>
            <a:ext cx="11881026" cy="2175375"/>
          </a:xfrm>
          <a:prstGeom prst="rect">
            <a:avLst/>
          </a:prstGeom>
          <a:noFill/>
          <a:ln>
            <a:noFill/>
          </a:ln>
        </p:spPr>
      </p:pic>
      <p:sp>
        <p:nvSpPr>
          <p:cNvPr id="153" name="Google Shape;153;p12"/>
          <p:cNvSpPr/>
          <p:nvPr/>
        </p:nvSpPr>
        <p:spPr>
          <a:xfrm>
            <a:off x="148225" y="749274"/>
            <a:ext cx="17826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年度</a:t>
            </a:r>
            <a:endParaRPr b="0" i="0" sz="1500" u="none" cap="none" strike="noStrike">
              <a:solidFill>
                <a:srgbClr val="000000"/>
              </a:solidFill>
              <a:latin typeface="Arial"/>
              <a:ea typeface="Arial"/>
              <a:cs typeface="Arial"/>
              <a:sym typeface="Arial"/>
            </a:endParaRPr>
          </a:p>
        </p:txBody>
      </p:sp>
      <p:sp>
        <p:nvSpPr>
          <p:cNvPr id="154" name="Google Shape;154;p12"/>
          <p:cNvSpPr/>
          <p:nvPr/>
        </p:nvSpPr>
        <p:spPr>
          <a:xfrm>
            <a:off x="783425" y="859674"/>
            <a:ext cx="1040100" cy="3231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2025年▼</a:t>
            </a:r>
            <a:endParaRPr b="0" i="0" sz="1500" u="none" cap="none" strike="noStrike">
              <a:solidFill>
                <a:srgbClr val="000000"/>
              </a:solidFill>
              <a:latin typeface="Arial"/>
              <a:ea typeface="Arial"/>
              <a:cs typeface="Arial"/>
              <a:sym typeface="Arial"/>
            </a:endParaRPr>
          </a:p>
        </p:txBody>
      </p:sp>
      <p:sp>
        <p:nvSpPr>
          <p:cNvPr id="155" name="Google Shape;155;p12"/>
          <p:cNvSpPr/>
          <p:nvPr/>
        </p:nvSpPr>
        <p:spPr>
          <a:xfrm>
            <a:off x="205980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月次</a:t>
            </a:r>
            <a:endParaRPr b="0" i="0" sz="1500" u="none" cap="none" strike="noStrike">
              <a:solidFill>
                <a:srgbClr val="000000"/>
              </a:solidFill>
              <a:latin typeface="Arial"/>
              <a:ea typeface="Arial"/>
              <a:cs typeface="Arial"/>
              <a:sym typeface="Arial"/>
            </a:endParaRPr>
          </a:p>
        </p:txBody>
      </p:sp>
      <p:sp>
        <p:nvSpPr>
          <p:cNvPr id="156" name="Google Shape;156;p12"/>
          <p:cNvSpPr/>
          <p:nvPr/>
        </p:nvSpPr>
        <p:spPr>
          <a:xfrm>
            <a:off x="269500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4月▼</a:t>
            </a:r>
            <a:endParaRPr b="0" i="0" sz="1500" u="none" cap="none" strike="noStrike">
              <a:solidFill>
                <a:srgbClr val="000000"/>
              </a:solidFill>
              <a:latin typeface="Arial"/>
              <a:ea typeface="Arial"/>
              <a:cs typeface="Arial"/>
              <a:sym typeface="Arial"/>
            </a:endParaRPr>
          </a:p>
        </p:txBody>
      </p:sp>
      <p:sp>
        <p:nvSpPr>
          <p:cNvPr id="157" name="Google Shape;157;p12"/>
          <p:cNvSpPr/>
          <p:nvPr/>
        </p:nvSpPr>
        <p:spPr>
          <a:xfrm>
            <a:off x="1029385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単位</a:t>
            </a:r>
            <a:endParaRPr b="0" i="0" sz="1500" u="none" cap="none" strike="noStrike">
              <a:solidFill>
                <a:srgbClr val="000000"/>
              </a:solidFill>
              <a:latin typeface="Arial"/>
              <a:ea typeface="Arial"/>
              <a:cs typeface="Arial"/>
              <a:sym typeface="Arial"/>
            </a:endParaRPr>
          </a:p>
        </p:txBody>
      </p:sp>
      <p:sp>
        <p:nvSpPr>
          <p:cNvPr id="158" name="Google Shape;158;p12"/>
          <p:cNvSpPr/>
          <p:nvPr/>
        </p:nvSpPr>
        <p:spPr>
          <a:xfrm>
            <a:off x="1092905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百万円</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59" name="Google Shape;159;p12"/>
          <p:cNvSpPr/>
          <p:nvPr/>
        </p:nvSpPr>
        <p:spPr>
          <a:xfrm>
            <a:off x="3863975"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会社</a:t>
            </a:r>
            <a:endParaRPr b="0" i="0" sz="1500" u="none" cap="none" strike="noStrike">
              <a:solidFill>
                <a:srgbClr val="000000"/>
              </a:solidFill>
              <a:latin typeface="Arial"/>
              <a:ea typeface="Arial"/>
              <a:cs typeface="Arial"/>
              <a:sym typeface="Arial"/>
            </a:endParaRPr>
          </a:p>
        </p:txBody>
      </p:sp>
      <p:sp>
        <p:nvSpPr>
          <p:cNvPr id="160" name="Google Shape;160;p12"/>
          <p:cNvSpPr/>
          <p:nvPr/>
        </p:nvSpPr>
        <p:spPr>
          <a:xfrm>
            <a:off x="4499175"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キユーピー</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pic>
        <p:nvPicPr>
          <p:cNvPr id="161" name="Google Shape;161;p12"/>
          <p:cNvPicPr preferRelativeResize="0"/>
          <p:nvPr/>
        </p:nvPicPr>
        <p:blipFill rotWithShape="1">
          <a:blip r:embed="rId3">
            <a:alphaModFix/>
          </a:blip>
          <a:srcRect b="6833" l="0" r="0" t="47794"/>
          <a:stretch/>
        </p:blipFill>
        <p:spPr>
          <a:xfrm>
            <a:off x="166301" y="3939949"/>
            <a:ext cx="11881026" cy="2874149"/>
          </a:xfrm>
          <a:prstGeom prst="rect">
            <a:avLst/>
          </a:prstGeom>
          <a:noFill/>
          <a:ln>
            <a:noFill/>
          </a:ln>
        </p:spPr>
      </p:pic>
      <p:pic>
        <p:nvPicPr>
          <p:cNvPr id="162" name="Google Shape;162;p12"/>
          <p:cNvPicPr preferRelativeResize="0"/>
          <p:nvPr/>
        </p:nvPicPr>
        <p:blipFill>
          <a:blip r:embed="rId4">
            <a:alphaModFix/>
          </a:blip>
          <a:stretch>
            <a:fillRect/>
          </a:stretch>
        </p:blipFill>
        <p:spPr>
          <a:xfrm>
            <a:off x="6584450" y="6164963"/>
            <a:ext cx="5295900" cy="409575"/>
          </a:xfrm>
          <a:prstGeom prst="rect">
            <a:avLst/>
          </a:prstGeom>
          <a:noFill/>
          <a:ln>
            <a:noFill/>
          </a:ln>
        </p:spPr>
      </p:pic>
      <p:sp>
        <p:nvSpPr>
          <p:cNvPr id="163" name="Google Shape;163;p12"/>
          <p:cNvSpPr/>
          <p:nvPr/>
        </p:nvSpPr>
        <p:spPr>
          <a:xfrm>
            <a:off x="6265750" y="749250"/>
            <a:ext cx="27783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カテゴリ</a:t>
            </a:r>
            <a:endParaRPr b="0" i="0" sz="1500" u="none" cap="none" strike="noStrike">
              <a:solidFill>
                <a:srgbClr val="000000"/>
              </a:solidFill>
              <a:latin typeface="Arial"/>
              <a:ea typeface="Arial"/>
              <a:cs typeface="Arial"/>
              <a:sym typeface="Arial"/>
            </a:endParaRPr>
          </a:p>
        </p:txBody>
      </p:sp>
      <p:sp>
        <p:nvSpPr>
          <p:cNvPr id="164" name="Google Shape;164;p12"/>
          <p:cNvSpPr/>
          <p:nvPr/>
        </p:nvSpPr>
        <p:spPr>
          <a:xfrm>
            <a:off x="7422529" y="857550"/>
            <a:ext cx="12999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2Q見通し</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65" name="Google Shape;165;p12"/>
          <p:cNvSpPr/>
          <p:nvPr/>
        </p:nvSpPr>
        <p:spPr>
          <a:xfrm>
            <a:off x="3597000" y="4008500"/>
            <a:ext cx="2002800" cy="3252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JP"/>
              <a:t>見通し</a:t>
            </a:r>
            <a:r>
              <a:rPr lang="ja-JP"/>
              <a:t>差</a:t>
            </a:r>
            <a:r>
              <a:rPr lang="ja-JP"/>
              <a:t>も足す</a:t>
            </a:r>
            <a:endParaRPr/>
          </a:p>
        </p:txBody>
      </p:sp>
      <p:sp>
        <p:nvSpPr>
          <p:cNvPr id="166" name="Google Shape;166;p12"/>
          <p:cNvSpPr/>
          <p:nvPr/>
        </p:nvSpPr>
        <p:spPr>
          <a:xfrm>
            <a:off x="2847575" y="5744325"/>
            <a:ext cx="2002800" cy="3252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JP"/>
              <a:t>見通しも足す</a:t>
            </a:r>
            <a:endParaRPr/>
          </a:p>
        </p:txBody>
      </p:sp>
      <p:sp>
        <p:nvSpPr>
          <p:cNvPr id="167" name="Google Shape;167;p12"/>
          <p:cNvSpPr/>
          <p:nvPr/>
        </p:nvSpPr>
        <p:spPr>
          <a:xfrm>
            <a:off x="9548300" y="4008500"/>
            <a:ext cx="2002800" cy="325200"/>
          </a:xfrm>
          <a:prstGeom prst="wedgeRectCallout">
            <a:avLst>
              <a:gd fmla="val -22656" name="adj1"/>
              <a:gd fmla="val -6759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JP"/>
              <a:t>見通し差も足す</a:t>
            </a:r>
            <a:endParaRPr/>
          </a:p>
        </p:txBody>
      </p:sp>
      <p:sp>
        <p:nvSpPr>
          <p:cNvPr id="168" name="Google Shape;168;p12"/>
          <p:cNvSpPr txBox="1"/>
          <p:nvPr/>
        </p:nvSpPr>
        <p:spPr>
          <a:xfrm>
            <a:off x="4107250" y="1345561"/>
            <a:ext cx="27783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JP"/>
              <a:t>カテゴリ：2Q計画、2Q見通し</a:t>
            </a:r>
            <a:endParaRPr/>
          </a:p>
        </p:txBody>
      </p:sp>
      <p:sp>
        <p:nvSpPr>
          <p:cNvPr id="169" name="Google Shape;169;p12"/>
          <p:cNvSpPr/>
          <p:nvPr/>
        </p:nvSpPr>
        <p:spPr>
          <a:xfrm>
            <a:off x="710575" y="4150150"/>
            <a:ext cx="3263700" cy="1176900"/>
          </a:xfrm>
          <a:prstGeom prst="wedgeRectCallout">
            <a:avLst>
              <a:gd fmla="val -38277" name="adj1"/>
              <a:gd fmla="val -78122"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JP"/>
              <a:t>販管費はZBWCH0050_TXTが</a:t>
            </a:r>
            <a:endParaRPr/>
          </a:p>
          <a:p>
            <a:pPr indent="0" lvl="0" marL="0" rtl="0" algn="l">
              <a:spcBef>
                <a:spcPts val="0"/>
              </a:spcBef>
              <a:spcAft>
                <a:spcPts val="0"/>
              </a:spcAft>
              <a:buNone/>
            </a:pPr>
            <a:r>
              <a:rPr lang="ja-JP"/>
              <a:t>「販売費および一般管理費」</a:t>
            </a:r>
            <a:endParaRPr/>
          </a:p>
          <a:p>
            <a:pPr indent="0" lvl="0" marL="0" rtl="0" algn="l">
              <a:spcBef>
                <a:spcPts val="0"/>
              </a:spcBef>
              <a:spcAft>
                <a:spcPts val="0"/>
              </a:spcAft>
              <a:buNone/>
            </a:pPr>
            <a:r>
              <a:rPr lang="ja-JP"/>
              <a:t>更に下の階層がZBWCH0051_TXT</a:t>
            </a:r>
            <a:endParaRPr/>
          </a:p>
        </p:txBody>
      </p:sp>
      <p:pic>
        <p:nvPicPr>
          <p:cNvPr id="170" name="Google Shape;170;p12"/>
          <p:cNvPicPr preferRelativeResize="0"/>
          <p:nvPr/>
        </p:nvPicPr>
        <p:blipFill>
          <a:blip r:embed="rId5">
            <a:alphaModFix/>
          </a:blip>
          <a:stretch>
            <a:fillRect/>
          </a:stretch>
        </p:blipFill>
        <p:spPr>
          <a:xfrm>
            <a:off x="8620702" y="2376847"/>
            <a:ext cx="5295901" cy="448114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3"/>
          <p:cNvSpPr txBox="1"/>
          <p:nvPr>
            <p:ph type="ctrTitle"/>
          </p:nvPr>
        </p:nvSpPr>
        <p:spPr>
          <a:xfrm>
            <a:off x="0" y="111971"/>
            <a:ext cx="11707800" cy="430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ja-JP"/>
              <a:t>財務PL⑤(PL一覧)</a:t>
            </a:r>
            <a:endParaRPr/>
          </a:p>
        </p:txBody>
      </p:sp>
      <p:sp>
        <p:nvSpPr>
          <p:cNvPr id="177" name="Google Shape;177;p13"/>
          <p:cNvSpPr txBox="1"/>
          <p:nvPr>
            <p:ph idx="12" type="sldNum"/>
          </p:nvPr>
        </p:nvSpPr>
        <p:spPr>
          <a:xfrm>
            <a:off x="10940239" y="117484"/>
            <a:ext cx="12519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600"/>
              <a:buFont typeface="Arial"/>
              <a:buNone/>
            </a:pPr>
            <a:fld id="{00000000-1234-1234-1234-123412341234}" type="slidenum">
              <a:rPr lang="ja-JP"/>
              <a:t>‹#›</a:t>
            </a:fld>
            <a:r>
              <a:rPr lang="ja-JP"/>
              <a:t>/14</a:t>
            </a:r>
            <a:endParaRPr/>
          </a:p>
        </p:txBody>
      </p:sp>
      <p:pic>
        <p:nvPicPr>
          <p:cNvPr id="178" name="Google Shape;178;p13"/>
          <p:cNvPicPr preferRelativeResize="0"/>
          <p:nvPr/>
        </p:nvPicPr>
        <p:blipFill>
          <a:blip r:embed="rId3">
            <a:alphaModFix/>
          </a:blip>
          <a:stretch>
            <a:fillRect/>
          </a:stretch>
        </p:blipFill>
        <p:spPr>
          <a:xfrm>
            <a:off x="152400" y="1743921"/>
            <a:ext cx="11887198" cy="2409676"/>
          </a:xfrm>
          <a:prstGeom prst="rect">
            <a:avLst/>
          </a:prstGeom>
          <a:noFill/>
          <a:ln>
            <a:noFill/>
          </a:ln>
        </p:spPr>
      </p:pic>
      <p:sp>
        <p:nvSpPr>
          <p:cNvPr id="179" name="Google Shape;179;p13"/>
          <p:cNvSpPr/>
          <p:nvPr/>
        </p:nvSpPr>
        <p:spPr>
          <a:xfrm>
            <a:off x="434115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会社</a:t>
            </a:r>
            <a:endParaRPr b="0" i="0" sz="1500" u="none" cap="none" strike="noStrike">
              <a:solidFill>
                <a:srgbClr val="000000"/>
              </a:solidFill>
              <a:latin typeface="Arial"/>
              <a:ea typeface="Arial"/>
              <a:cs typeface="Arial"/>
              <a:sym typeface="Arial"/>
            </a:endParaRPr>
          </a:p>
        </p:txBody>
      </p:sp>
      <p:sp>
        <p:nvSpPr>
          <p:cNvPr id="180" name="Google Shape;180;p13"/>
          <p:cNvSpPr/>
          <p:nvPr/>
        </p:nvSpPr>
        <p:spPr>
          <a:xfrm>
            <a:off x="497635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キユーピー</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81" name="Google Shape;181;p13"/>
          <p:cNvSpPr/>
          <p:nvPr/>
        </p:nvSpPr>
        <p:spPr>
          <a:xfrm>
            <a:off x="1988567" y="749250"/>
            <a:ext cx="22728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セグメント</a:t>
            </a:r>
            <a:endParaRPr b="0" i="0" sz="1500" u="none" cap="none" strike="noStrike">
              <a:solidFill>
                <a:srgbClr val="000000"/>
              </a:solidFill>
              <a:latin typeface="Arial"/>
              <a:ea typeface="Arial"/>
              <a:cs typeface="Arial"/>
              <a:sym typeface="Arial"/>
            </a:endParaRPr>
          </a:p>
        </p:txBody>
      </p:sp>
      <p:sp>
        <p:nvSpPr>
          <p:cNvPr id="182" name="Google Shape;182;p13"/>
          <p:cNvSpPr/>
          <p:nvPr/>
        </p:nvSpPr>
        <p:spPr>
          <a:xfrm>
            <a:off x="314533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市販</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83" name="Google Shape;183;p13"/>
          <p:cNvSpPr/>
          <p:nvPr/>
        </p:nvSpPr>
        <p:spPr>
          <a:xfrm>
            <a:off x="10293850" y="749262"/>
            <a:ext cx="16752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単位</a:t>
            </a:r>
            <a:endParaRPr b="0" i="0" sz="1500" u="none" cap="none" strike="noStrike">
              <a:solidFill>
                <a:srgbClr val="000000"/>
              </a:solidFill>
              <a:latin typeface="Arial"/>
              <a:ea typeface="Arial"/>
              <a:cs typeface="Arial"/>
              <a:sym typeface="Arial"/>
            </a:endParaRPr>
          </a:p>
        </p:txBody>
      </p:sp>
      <p:sp>
        <p:nvSpPr>
          <p:cNvPr id="184" name="Google Shape;184;p13"/>
          <p:cNvSpPr/>
          <p:nvPr/>
        </p:nvSpPr>
        <p:spPr>
          <a:xfrm>
            <a:off x="10929050" y="857562"/>
            <a:ext cx="9513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百万円</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85" name="Google Shape;185;p13"/>
          <p:cNvSpPr/>
          <p:nvPr/>
        </p:nvSpPr>
        <p:spPr>
          <a:xfrm>
            <a:off x="382475" y="5355050"/>
            <a:ext cx="2197200" cy="1198500"/>
          </a:xfrm>
          <a:prstGeom prst="wedgeRectCallout">
            <a:avLst>
              <a:gd fmla="val 56679" name="adj1"/>
              <a:gd fmla="val -7421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JP"/>
              <a:t>実績、前年、年初計画</a:t>
            </a:r>
            <a:endParaRPr/>
          </a:p>
          <a:p>
            <a:pPr indent="0" lvl="0" marL="0" rtl="0" algn="ctr">
              <a:spcBef>
                <a:spcPts val="0"/>
              </a:spcBef>
              <a:spcAft>
                <a:spcPts val="0"/>
              </a:spcAft>
              <a:buNone/>
            </a:pPr>
            <a:r>
              <a:rPr lang="ja-JP"/>
              <a:t>前年差、年初計画差、見通し差の6つを作成する</a:t>
            </a:r>
            <a:endParaRPr/>
          </a:p>
        </p:txBody>
      </p:sp>
      <p:sp>
        <p:nvSpPr>
          <p:cNvPr id="186" name="Google Shape;186;p13"/>
          <p:cNvSpPr/>
          <p:nvPr/>
        </p:nvSpPr>
        <p:spPr>
          <a:xfrm>
            <a:off x="148225" y="749274"/>
            <a:ext cx="17826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年度</a:t>
            </a:r>
            <a:endParaRPr b="0" i="0" sz="1500" u="none" cap="none" strike="noStrike">
              <a:solidFill>
                <a:srgbClr val="000000"/>
              </a:solidFill>
              <a:latin typeface="Arial"/>
              <a:ea typeface="Arial"/>
              <a:cs typeface="Arial"/>
              <a:sym typeface="Arial"/>
            </a:endParaRPr>
          </a:p>
        </p:txBody>
      </p:sp>
      <p:sp>
        <p:nvSpPr>
          <p:cNvPr id="187" name="Google Shape;187;p13"/>
          <p:cNvSpPr/>
          <p:nvPr/>
        </p:nvSpPr>
        <p:spPr>
          <a:xfrm>
            <a:off x="783425" y="859674"/>
            <a:ext cx="1040100" cy="3231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ja-JP" sz="1500" u="none" cap="none" strike="noStrike">
                <a:solidFill>
                  <a:srgbClr val="000000"/>
                </a:solidFill>
                <a:latin typeface="Arial"/>
                <a:ea typeface="Arial"/>
                <a:cs typeface="Arial"/>
                <a:sym typeface="Arial"/>
              </a:rPr>
              <a:t>2025年▼</a:t>
            </a:r>
            <a:endParaRPr b="0" i="0" sz="1500" u="none" cap="none" strike="noStrike">
              <a:solidFill>
                <a:srgbClr val="000000"/>
              </a:solidFill>
              <a:latin typeface="Arial"/>
              <a:ea typeface="Arial"/>
              <a:cs typeface="Arial"/>
              <a:sym typeface="Arial"/>
            </a:endParaRPr>
          </a:p>
        </p:txBody>
      </p:sp>
      <p:sp>
        <p:nvSpPr>
          <p:cNvPr id="188" name="Google Shape;188;p13"/>
          <p:cNvSpPr/>
          <p:nvPr/>
        </p:nvSpPr>
        <p:spPr>
          <a:xfrm>
            <a:off x="6265750" y="749250"/>
            <a:ext cx="2778300" cy="560700"/>
          </a:xfrm>
          <a:prstGeom prst="rect">
            <a:avLst/>
          </a:prstGeom>
          <a:solidFill>
            <a:srgbClr val="D8DC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カテゴリ</a:t>
            </a:r>
            <a:endParaRPr b="0" i="0" sz="1500" u="none" cap="none" strike="noStrike">
              <a:solidFill>
                <a:srgbClr val="000000"/>
              </a:solidFill>
              <a:latin typeface="Arial"/>
              <a:ea typeface="Arial"/>
              <a:cs typeface="Arial"/>
              <a:sym typeface="Arial"/>
            </a:endParaRPr>
          </a:p>
        </p:txBody>
      </p:sp>
      <p:sp>
        <p:nvSpPr>
          <p:cNvPr id="189" name="Google Shape;189;p13"/>
          <p:cNvSpPr/>
          <p:nvPr/>
        </p:nvSpPr>
        <p:spPr>
          <a:xfrm>
            <a:off x="7422529" y="857550"/>
            <a:ext cx="1299900" cy="325200"/>
          </a:xfrm>
          <a:prstGeom prst="rect">
            <a:avLst/>
          </a:prstGeom>
          <a:solidFill>
            <a:srgbClr val="D8D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ja-JP" sz="1500"/>
              <a:t>2Q見通し</a:t>
            </a:r>
            <a:r>
              <a:rPr b="0" i="0" lang="ja-JP"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90" name="Google Shape;190;p13"/>
          <p:cNvSpPr txBox="1"/>
          <p:nvPr/>
        </p:nvSpPr>
        <p:spPr>
          <a:xfrm>
            <a:off x="4411350" y="1378824"/>
            <a:ext cx="27783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JP"/>
              <a:t>カテゴリ：2Q計画、2Q見通し</a:t>
            </a:r>
            <a:endParaRPr/>
          </a:p>
        </p:txBody>
      </p:sp>
      <p:pic>
        <p:nvPicPr>
          <p:cNvPr id="191" name="Google Shape;191;p13"/>
          <p:cNvPicPr preferRelativeResize="0"/>
          <p:nvPr/>
        </p:nvPicPr>
        <p:blipFill>
          <a:blip r:embed="rId4">
            <a:alphaModFix/>
          </a:blip>
          <a:stretch>
            <a:fillRect/>
          </a:stretch>
        </p:blipFill>
        <p:spPr>
          <a:xfrm>
            <a:off x="2902625" y="4415233"/>
            <a:ext cx="8893850" cy="139834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テーマ">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